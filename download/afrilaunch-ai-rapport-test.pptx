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114800" y="2057400"/>
            <a:ext cx="1857375" cy="1857375"/>
          </a:xfrm>
          <a:prstGeom prst="ellipse">
            <a:avLst/>
          </a:prstGeom>
          <a:solidFill>
            <a:srgbClr val="22D3EE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050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6132" y="428982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547" dirty="0"/>
          </a:p>
        </p:txBody>
      </p:sp>
      <p:sp>
        <p:nvSpPr>
          <p:cNvPr id="9" name="Text 4"/>
          <p:cNvSpPr/>
          <p:nvPr/>
        </p:nvSpPr>
        <p:spPr>
          <a:xfrm>
            <a:off x="828675" y="485775"/>
            <a:ext cx="1432671" cy="1463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spc="68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AFRILAUNCH · REPORT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7719626" y="436912"/>
            <a:ext cx="990034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7939510" y="491133"/>
            <a:ext cx="778866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12" name="Text 7"/>
          <p:cNvSpPr/>
          <p:nvPr/>
        </p:nvSpPr>
        <p:spPr>
          <a:xfrm>
            <a:off x="7835354" y="49649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1415" y="1594507"/>
            <a:ext cx="342900" cy="71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833495" y="1539143"/>
            <a:ext cx="147701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RAPPORT DE TEST</a:t>
            </a:r>
            <a:endParaRPr lang="en-US" sz="8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685" y="1594507"/>
            <a:ext cx="342900" cy="714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74320" y="1799890"/>
            <a:ext cx="8595360" cy="791536"/>
          </a:xfrm>
          <a:prstGeom prst="rect">
            <a:avLst/>
          </a:prstGeom>
          <a:noFill/>
          <a:ln/>
          <a:effectLst>
            <a:outerShdw sx="100000" sy="100000" kx="0" ky="0" algn="bl" rotWithShape="0" blurRad="571500" dist="50800" dir="16200000">
              <a:srgbClr val="6366F1">
                <a:alpha val="35000"/>
              </a:srgbClr>
            </a:outerShdw>
          </a:effectLst>
        </p:spPr>
        <p:txBody>
          <a:bodyPr wrap="none" lIns="0" tIns="0" rIns="0" bIns="0" rtlCol="0" anchor="t"/>
          <a:lstStyle/>
          <a:p>
            <a:pPr algn="ctr" indent="0" marL="0">
              <a:lnSpc>
                <a:spcPts val="5771"/>
              </a:lnSpc>
              <a:buNone/>
            </a:pPr>
            <a:r>
              <a:rPr lang="en-US" sz="6075" b="1" spc="-243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AfriLaunch AI</a:t>
            </a:r>
            <a:endParaRPr lang="en-US" sz="6075" dirty="0"/>
          </a:p>
        </p:txBody>
      </p:sp>
      <p:sp>
        <p:nvSpPr>
          <p:cNvPr id="17" name="Text 10"/>
          <p:cNvSpPr/>
          <p:nvPr/>
        </p:nvSpPr>
        <p:spPr>
          <a:xfrm>
            <a:off x="3077295" y="2704244"/>
            <a:ext cx="298929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Rapport de Test — </a:t>
            </a:r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Tous Modules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3150171" y="31400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266" dirty="0"/>
          </a:p>
        </p:txBody>
      </p:sp>
      <p:sp>
        <p:nvSpPr>
          <p:cNvPr id="19" name="Text 12"/>
          <p:cNvSpPr/>
          <p:nvPr/>
        </p:nvSpPr>
        <p:spPr>
          <a:xfrm>
            <a:off x="3273963" y="3132869"/>
            <a:ext cx="844181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Août 2026</a:t>
            </a:r>
            <a:endParaRPr lang="en-US" sz="800" dirty="0"/>
          </a:p>
        </p:txBody>
      </p:sp>
      <p:sp>
        <p:nvSpPr>
          <p:cNvPr id="20" name="Text 13"/>
          <p:cNvSpPr/>
          <p:nvPr/>
        </p:nvSpPr>
        <p:spPr>
          <a:xfrm>
            <a:off x="4227649" y="3190019"/>
            <a:ext cx="28575" cy="28575"/>
          </a:xfrm>
          <a:prstGeom prst="roundRect">
            <a:avLst>
              <a:gd name="adj" fmla="val 333300000"/>
            </a:avLst>
          </a:prstGeom>
          <a:solidFill>
            <a:srgbClr val="4B556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4"/>
          <p:cNvSpPr/>
          <p:nvPr/>
        </p:nvSpPr>
        <p:spPr>
          <a:xfrm>
            <a:off x="4427674" y="314001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266" dirty="0"/>
          </a:p>
        </p:txBody>
      </p:sp>
      <p:sp>
        <p:nvSpPr>
          <p:cNvPr id="22" name="Text 15"/>
          <p:cNvSpPr/>
          <p:nvPr/>
        </p:nvSpPr>
        <p:spPr>
          <a:xfrm>
            <a:off x="4558195" y="3132869"/>
            <a:ext cx="1490852" cy="156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afrilaunchia.vercel.app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460772" y="4132659"/>
            <a:ext cx="2659819" cy="607219"/>
          </a:xfrm>
          <a:prstGeom prst="roundRect">
            <a:avLst>
              <a:gd name="adj" fmla="val 2509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610791" y="4282678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650438" y="43223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26" name="Text 19"/>
          <p:cNvSpPr/>
          <p:nvPr/>
        </p:nvSpPr>
        <p:spPr>
          <a:xfrm>
            <a:off x="1035844" y="4279106"/>
            <a:ext cx="894755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26/26</a:t>
            </a:r>
            <a:endParaRPr lang="en-US" sz="1463" dirty="0"/>
          </a:p>
        </p:txBody>
      </p:sp>
      <p:sp>
        <p:nvSpPr>
          <p:cNvPr id="27" name="Text 20"/>
          <p:cNvSpPr/>
          <p:nvPr/>
        </p:nvSpPr>
        <p:spPr>
          <a:xfrm>
            <a:off x="1035844" y="4479131"/>
            <a:ext cx="71580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Pages ✅</a:t>
            </a:r>
            <a:endParaRPr lang="en-US" sz="800" dirty="0"/>
          </a:p>
        </p:txBody>
      </p:sp>
      <p:sp>
        <p:nvSpPr>
          <p:cNvPr id="28" name="Text 21"/>
          <p:cNvSpPr/>
          <p:nvPr/>
        </p:nvSpPr>
        <p:spPr>
          <a:xfrm>
            <a:off x="3242035" y="4132659"/>
            <a:ext cx="2659819" cy="607219"/>
          </a:xfrm>
          <a:prstGeom prst="roundRect">
            <a:avLst>
              <a:gd name="adj" fmla="val 2509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2"/>
          <p:cNvSpPr/>
          <p:nvPr/>
        </p:nvSpPr>
        <p:spPr>
          <a:xfrm>
            <a:off x="3392053" y="4282678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3431701" y="43223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1" name="Text 24"/>
          <p:cNvSpPr/>
          <p:nvPr/>
        </p:nvSpPr>
        <p:spPr>
          <a:xfrm>
            <a:off x="3817107" y="4279106"/>
            <a:ext cx="1045845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10/10</a:t>
            </a:r>
            <a:endParaRPr lang="en-US" sz="1463" dirty="0"/>
          </a:p>
        </p:txBody>
      </p:sp>
      <p:sp>
        <p:nvSpPr>
          <p:cNvPr id="32" name="Text 25"/>
          <p:cNvSpPr/>
          <p:nvPr/>
        </p:nvSpPr>
        <p:spPr>
          <a:xfrm>
            <a:off x="3786137" y="4479131"/>
            <a:ext cx="82802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Modules ✅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6023297" y="4132659"/>
            <a:ext cx="2659931" cy="607219"/>
          </a:xfrm>
          <a:prstGeom prst="roundRect">
            <a:avLst>
              <a:gd name="adj" fmla="val 2509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6173316" y="4282678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6212964" y="4322326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547" dirty="0"/>
          </a:p>
        </p:txBody>
      </p:sp>
      <p:sp>
        <p:nvSpPr>
          <p:cNvPr id="36" name="Text 29"/>
          <p:cNvSpPr/>
          <p:nvPr/>
        </p:nvSpPr>
        <p:spPr>
          <a:xfrm>
            <a:off x="6598369" y="4279106"/>
            <a:ext cx="1039773" cy="1725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endParaRPr lang="en-US" sz="1463" dirty="0"/>
          </a:p>
        </p:txBody>
      </p:sp>
      <p:sp>
        <p:nvSpPr>
          <p:cNvPr id="37" name="Text 30"/>
          <p:cNvSpPr/>
          <p:nvPr/>
        </p:nvSpPr>
        <p:spPr>
          <a:xfrm>
            <a:off x="6598369" y="4479131"/>
            <a:ext cx="761634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Testés</a:t>
            </a:r>
            <a:endParaRPr lang="en-US" sz="6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257632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· OVERVIEW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2705143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5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Résumé </a:t>
            </a:r>
            <a:pPr algn="l" indent="0" marL="0">
              <a:lnSpc>
                <a:spcPts val="2363"/>
              </a:lnSpc>
              <a:buNone/>
            </a:pPr>
            <a:r>
              <a:rPr lang="en-US" sz="2250" b="1" spc="-56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Exécutif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919092" y="674441"/>
            <a:ext cx="790568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170552" y="728663"/>
            <a:ext cx="516248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DÉPLOYÉ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34821" y="73402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78706"/>
            <a:ext cx="4050506" cy="1450181"/>
          </a:xfrm>
          <a:prstGeom prst="roundRect">
            <a:avLst>
              <a:gd name="adj" fmla="val 919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082278"/>
            <a:ext cx="4043363" cy="285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0791" y="1228725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50438" y="126837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547" dirty="0"/>
          </a:p>
        </p:txBody>
      </p:sp>
      <p:sp>
        <p:nvSpPr>
          <p:cNvPr id="15" name="Text 10"/>
          <p:cNvSpPr/>
          <p:nvPr/>
        </p:nvSpPr>
        <p:spPr>
          <a:xfrm>
            <a:off x="3742343" y="1214438"/>
            <a:ext cx="645349" cy="200025"/>
          </a:xfrm>
          <a:prstGeom prst="roundRect">
            <a:avLst>
              <a:gd name="adj" fmla="val 95238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3765203" y="1225153"/>
            <a:ext cx="5996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HTTP 200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07219" y="1682353"/>
            <a:ext cx="3757613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26/26</a:t>
            </a:r>
            <a:endParaRPr lang="en-US" sz="3038" dirty="0"/>
          </a:p>
        </p:txBody>
      </p:sp>
      <p:sp>
        <p:nvSpPr>
          <p:cNvPr id="18" name="Text 13"/>
          <p:cNvSpPr/>
          <p:nvPr/>
        </p:nvSpPr>
        <p:spPr>
          <a:xfrm>
            <a:off x="607219" y="2110978"/>
            <a:ext cx="375761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Pages HTTP 200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07219" y="2268141"/>
            <a:ext cx="3867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Toutes les routes Vercel répondent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4632722" y="1078706"/>
            <a:ext cx="4050506" cy="1450181"/>
          </a:xfrm>
          <a:prstGeom prst="roundRect">
            <a:avLst>
              <a:gd name="adj" fmla="val 919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294" y="1082278"/>
            <a:ext cx="4043363" cy="285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82741" y="1228725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822388" y="1268373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24" name="Text 18"/>
          <p:cNvSpPr/>
          <p:nvPr/>
        </p:nvSpPr>
        <p:spPr>
          <a:xfrm>
            <a:off x="7717170" y="1214438"/>
            <a:ext cx="842471" cy="200025"/>
          </a:xfrm>
          <a:prstGeom prst="roundRect">
            <a:avLst>
              <a:gd name="adj" fmla="val 95238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7711807" y="1225153"/>
            <a:ext cx="85319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FONCTIONNEL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4779169" y="1682353"/>
            <a:ext cx="3757613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10/10</a:t>
            </a:r>
            <a:endParaRPr lang="en-US" sz="3038" dirty="0"/>
          </a:p>
        </p:txBody>
      </p:sp>
      <p:sp>
        <p:nvSpPr>
          <p:cNvPr id="27" name="Text 21"/>
          <p:cNvSpPr/>
          <p:nvPr/>
        </p:nvSpPr>
        <p:spPr>
          <a:xfrm>
            <a:off x="4779169" y="2110978"/>
            <a:ext cx="375761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Modules API fonctionnels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4779169" y="2268141"/>
            <a:ext cx="3867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Endpoints validés en production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60772" y="2650331"/>
            <a:ext cx="4050506" cy="1450181"/>
          </a:xfrm>
          <a:prstGeom prst="roundRect">
            <a:avLst>
              <a:gd name="adj" fmla="val 919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344" y="2653903"/>
            <a:ext cx="4043363" cy="285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10791" y="2800350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650438" y="28399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547" dirty="0"/>
          </a:p>
        </p:txBody>
      </p:sp>
      <p:sp>
        <p:nvSpPr>
          <p:cNvPr id="33" name="Text 26"/>
          <p:cNvSpPr/>
          <p:nvPr/>
        </p:nvSpPr>
        <p:spPr>
          <a:xfrm>
            <a:off x="3572455" y="2786063"/>
            <a:ext cx="815236" cy="200025"/>
          </a:xfrm>
          <a:prstGeom prst="roundRect">
            <a:avLst>
              <a:gd name="adj" fmla="val 95238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590641" y="2796778"/>
            <a:ext cx="7788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607219" y="3253978"/>
            <a:ext cx="3757613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1001</a:t>
            </a:r>
            <a:endParaRPr lang="en-US" sz="3038" dirty="0"/>
          </a:p>
        </p:txBody>
      </p:sp>
      <p:sp>
        <p:nvSpPr>
          <p:cNvPr id="36" name="Text 29"/>
          <p:cNvSpPr/>
          <p:nvPr/>
        </p:nvSpPr>
        <p:spPr>
          <a:xfrm>
            <a:off x="607219" y="3682603"/>
            <a:ext cx="3867341" cy="129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Caractères générés par l'IA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607219" y="3839766"/>
            <a:ext cx="3867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Génération async réussie en ~10s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4632722" y="2650331"/>
            <a:ext cx="4050506" cy="1450181"/>
          </a:xfrm>
          <a:prstGeom prst="roundRect">
            <a:avLst>
              <a:gd name="adj" fmla="val 919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294" y="2653903"/>
            <a:ext cx="4043363" cy="2857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4782741" y="2800350"/>
            <a:ext cx="307181" cy="307181"/>
          </a:xfrm>
          <a:prstGeom prst="roundRect">
            <a:avLst>
              <a:gd name="adj" fmla="val 24806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4822388" y="2839998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547" dirty="0"/>
          </a:p>
        </p:txBody>
      </p:sp>
      <p:sp>
        <p:nvSpPr>
          <p:cNvPr id="42" name="Text 34"/>
          <p:cNvSpPr/>
          <p:nvPr/>
        </p:nvSpPr>
        <p:spPr>
          <a:xfrm>
            <a:off x="7888732" y="2786063"/>
            <a:ext cx="670910" cy="200025"/>
          </a:xfrm>
          <a:prstGeom prst="roundRect">
            <a:avLst>
              <a:gd name="adj" fmla="val 95238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7909084" y="2796778"/>
            <a:ext cx="63020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RENTABLE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4779169" y="3253978"/>
            <a:ext cx="3757613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3038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3038" dirty="0"/>
          </a:p>
        </p:txBody>
      </p:sp>
      <p:sp>
        <p:nvSpPr>
          <p:cNvPr id="45" name="Text 37"/>
          <p:cNvSpPr/>
          <p:nvPr/>
        </p:nvSpPr>
        <p:spPr>
          <a:xfrm>
            <a:off x="4779169" y="3682603"/>
            <a:ext cx="3757613" cy="129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Marge brute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4779169" y="3839766"/>
            <a:ext cx="38673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Coût IA négligeable (modèle free)</a:t>
            </a:r>
            <a:endParaRPr lang="en-US" sz="8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4275534"/>
            <a:ext cx="8229600" cy="585788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460772" y="4279106"/>
            <a:ext cx="8222456" cy="578644"/>
          </a:xfrm>
          <a:prstGeom prst="roundRect">
            <a:avLst>
              <a:gd name="adj" fmla="val 23045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0"/>
          <p:cNvSpPr/>
          <p:nvPr/>
        </p:nvSpPr>
        <p:spPr>
          <a:xfrm>
            <a:off x="607219" y="4425553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6366F1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1"/>
          <p:cNvSpPr/>
          <p:nvPr/>
        </p:nvSpPr>
        <p:spPr>
          <a:xfrm>
            <a:off x="646509" y="446484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5B4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51" name="Text 42"/>
          <p:cNvSpPr/>
          <p:nvPr/>
        </p:nvSpPr>
        <p:spPr>
          <a:xfrm>
            <a:off x="1007269" y="4494758"/>
            <a:ext cx="7529513" cy="15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Déploiement </a:t>
            </a:r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</a:t>
            </a:r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</a:t>
            </a:r>
            <a:pPr algn="l" indent="0" marL="0">
              <a:lnSpc>
                <a:spcPts val="1160"/>
              </a:lnSpc>
              <a:buNone/>
            </a:pPr>
            <a:r>
              <a:rPr lang="en-US" sz="844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réussi. Tous les modules sont opérationnels sur la production.</a:t>
            </a:r>
            <a:endParaRPr lang="en-US" sz="84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442968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· CORE MODULES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4872651" cy="29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Authentification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Organisation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7705003" y="644415"/>
            <a:ext cx="1004657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956463" y="698636"/>
            <a:ext cx="73033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6/6 TESTS OK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7820732" y="7039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48680"/>
            <a:ext cx="4036219" cy="3691198"/>
          </a:xfrm>
          <a:prstGeom prst="roundRect">
            <a:avLst>
              <a:gd name="adj" fmla="val 3613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919" y="709352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21919" y="709352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10791" y="1198699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6509" y="123441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406" dirty="0"/>
          </a:p>
        </p:txBody>
      </p:sp>
      <p:sp>
        <p:nvSpPr>
          <p:cNvPr id="16" name="Text 11"/>
          <p:cNvSpPr/>
          <p:nvPr/>
        </p:nvSpPr>
        <p:spPr>
          <a:xfrm>
            <a:off x="978694" y="1198699"/>
            <a:ext cx="189809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01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978694" y="1316571"/>
            <a:ext cx="146830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AUTHENTIFICATION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610791" y="1627324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14375" y="17451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5"/>
          <p:cNvSpPr/>
          <p:nvPr/>
        </p:nvSpPr>
        <p:spPr>
          <a:xfrm>
            <a:off x="928688" y="1743410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Register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934135" y="1720836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946029" y="1730908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928688" y="1927361"/>
            <a:ext cx="34244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TestFinal créé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plan=starter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credits=500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10791" y="2245258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14375" y="2363130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6" name="Text 21"/>
          <p:cNvSpPr/>
          <p:nvPr/>
        </p:nvSpPr>
        <p:spPr>
          <a:xfrm>
            <a:off x="928688" y="2361344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934135" y="2338770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3946029" y="2348843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928688" y="2545296"/>
            <a:ext cx="34244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 session généré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JWT actif</a:t>
            </a:r>
            <a:endParaRPr lang="en-US" sz="800" dirty="0"/>
          </a:p>
        </p:txBody>
      </p:sp>
      <p:sp>
        <p:nvSpPr>
          <p:cNvPr id="30" name="Text 25"/>
          <p:cNvSpPr/>
          <p:nvPr/>
        </p:nvSpPr>
        <p:spPr>
          <a:xfrm>
            <a:off x="610791" y="2863193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6"/>
          <p:cNvSpPr/>
          <p:nvPr/>
        </p:nvSpPr>
        <p:spPr>
          <a:xfrm>
            <a:off x="714375" y="298106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2" name="Text 27"/>
          <p:cNvSpPr/>
          <p:nvPr/>
        </p:nvSpPr>
        <p:spPr>
          <a:xfrm>
            <a:off x="928688" y="2979279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934135" y="2956704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9"/>
          <p:cNvSpPr/>
          <p:nvPr/>
        </p:nvSpPr>
        <p:spPr>
          <a:xfrm>
            <a:off x="3946029" y="2966777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928688" y="3163230"/>
            <a:ext cx="34244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Profil récupéré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email=final@test.com</a:t>
            </a:r>
            <a:endParaRPr lang="en-US" sz="800" dirty="0"/>
          </a:p>
        </p:txBody>
      </p:sp>
      <p:sp>
        <p:nvSpPr>
          <p:cNvPr id="36" name="Text 31"/>
          <p:cNvSpPr/>
          <p:nvPr/>
        </p:nvSpPr>
        <p:spPr>
          <a:xfrm>
            <a:off x="607219" y="448806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914" dirty="0"/>
          </a:p>
        </p:txBody>
      </p:sp>
      <p:sp>
        <p:nvSpPr>
          <p:cNvPr id="37" name="Text 32"/>
          <p:cNvSpPr/>
          <p:nvPr/>
        </p:nvSpPr>
        <p:spPr>
          <a:xfrm>
            <a:off x="757238" y="4475559"/>
            <a:ext cx="3593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JWT + Supabase Auth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4647009" y="1048680"/>
            <a:ext cx="4036219" cy="3691198"/>
          </a:xfrm>
          <a:prstGeom prst="roundRect">
            <a:avLst>
              <a:gd name="adj" fmla="val 3613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8156" y="709352"/>
            <a:ext cx="914400" cy="914400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8108156" y="709352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5"/>
          <p:cNvSpPr/>
          <p:nvPr/>
        </p:nvSpPr>
        <p:spPr>
          <a:xfrm>
            <a:off x="4797028" y="1198699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6"/>
          <p:cNvSpPr/>
          <p:nvPr/>
        </p:nvSpPr>
        <p:spPr>
          <a:xfrm>
            <a:off x="4832747" y="1234418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1406" dirty="0"/>
          </a:p>
        </p:txBody>
      </p:sp>
      <p:sp>
        <p:nvSpPr>
          <p:cNvPr id="43" name="Text 37"/>
          <p:cNvSpPr/>
          <p:nvPr/>
        </p:nvSpPr>
        <p:spPr>
          <a:xfrm>
            <a:off x="5164931" y="1198699"/>
            <a:ext cx="149781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MODULE 02</a:t>
            </a:r>
            <a:endParaRPr lang="en-US" sz="800" dirty="0"/>
          </a:p>
        </p:txBody>
      </p:sp>
      <p:sp>
        <p:nvSpPr>
          <p:cNvPr id="44" name="Text 38"/>
          <p:cNvSpPr/>
          <p:nvPr/>
        </p:nvSpPr>
        <p:spPr>
          <a:xfrm>
            <a:off x="5164931" y="1316571"/>
            <a:ext cx="129328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ORGANISATION</a:t>
            </a:r>
            <a:endParaRPr lang="en-US" sz="1013" dirty="0"/>
          </a:p>
        </p:txBody>
      </p:sp>
      <p:sp>
        <p:nvSpPr>
          <p:cNvPr id="45" name="Text 39"/>
          <p:cNvSpPr/>
          <p:nvPr/>
        </p:nvSpPr>
        <p:spPr>
          <a:xfrm>
            <a:off x="4797028" y="1627324"/>
            <a:ext cx="3736181" cy="517922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0"/>
          <p:cNvSpPr/>
          <p:nvPr/>
        </p:nvSpPr>
        <p:spPr>
          <a:xfrm>
            <a:off x="4900613" y="174519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7" name="Text 41"/>
          <p:cNvSpPr/>
          <p:nvPr/>
        </p:nvSpPr>
        <p:spPr>
          <a:xfrm>
            <a:off x="5114925" y="1743410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Organisation créée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8120372" y="1720836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3"/>
          <p:cNvSpPr/>
          <p:nvPr/>
        </p:nvSpPr>
        <p:spPr>
          <a:xfrm>
            <a:off x="8132266" y="1730908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50" name="Text 44"/>
          <p:cNvSpPr/>
          <p:nvPr/>
        </p:nvSpPr>
        <p:spPr>
          <a:xfrm>
            <a:off x="5114925" y="1927361"/>
            <a:ext cx="34244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Hotel Albermon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Hôtellerie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Cameroun</a:t>
            </a:r>
            <a:endParaRPr lang="en-US" sz="800" dirty="0"/>
          </a:p>
        </p:txBody>
      </p:sp>
      <p:sp>
        <p:nvSpPr>
          <p:cNvPr id="51" name="Text 45"/>
          <p:cNvSpPr/>
          <p:nvPr/>
        </p:nvSpPr>
        <p:spPr>
          <a:xfrm>
            <a:off x="4797028" y="2238115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46"/>
          <p:cNvSpPr/>
          <p:nvPr/>
        </p:nvSpPr>
        <p:spPr>
          <a:xfrm>
            <a:off x="4900613" y="23559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3" name="Text 47"/>
          <p:cNvSpPr/>
          <p:nvPr/>
        </p:nvSpPr>
        <p:spPr>
          <a:xfrm>
            <a:off x="5114925" y="2354200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Persistance Supabase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8120372" y="2331626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8132266" y="2341699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5114925" y="2538152"/>
            <a:ext cx="33147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Confirmée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Row en DB</a:t>
            </a:r>
            <a:endParaRPr lang="en-US" sz="800" dirty="0"/>
          </a:p>
        </p:txBody>
      </p:sp>
      <p:sp>
        <p:nvSpPr>
          <p:cNvPr id="57" name="Text 51"/>
          <p:cNvSpPr/>
          <p:nvPr/>
        </p:nvSpPr>
        <p:spPr>
          <a:xfrm>
            <a:off x="4797028" y="2856049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2"/>
          <p:cNvSpPr/>
          <p:nvPr/>
        </p:nvSpPr>
        <p:spPr>
          <a:xfrm>
            <a:off x="4900613" y="29739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59" name="Text 53"/>
          <p:cNvSpPr/>
          <p:nvPr/>
        </p:nvSpPr>
        <p:spPr>
          <a:xfrm>
            <a:off x="5114925" y="2972135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Synchronisation modules</a:t>
            </a:r>
            <a:endParaRPr lang="en-US" sz="800" dirty="0"/>
          </a:p>
        </p:txBody>
      </p:sp>
      <p:sp>
        <p:nvSpPr>
          <p:cNvPr id="60" name="Text 54"/>
          <p:cNvSpPr/>
          <p:nvPr/>
        </p:nvSpPr>
        <p:spPr>
          <a:xfrm>
            <a:off x="8120372" y="2949561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8132266" y="2959633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5114925" y="3156086"/>
            <a:ext cx="342442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Activée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multi-modules linkés</a:t>
            </a:r>
            <a:endParaRPr lang="en-US" sz="800" dirty="0"/>
          </a:p>
        </p:txBody>
      </p:sp>
      <p:sp>
        <p:nvSpPr>
          <p:cNvPr id="63" name="Text 57"/>
          <p:cNvSpPr/>
          <p:nvPr/>
        </p:nvSpPr>
        <p:spPr>
          <a:xfrm>
            <a:off x="4793456" y="448806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64" name="Text 58"/>
          <p:cNvSpPr/>
          <p:nvPr/>
        </p:nvSpPr>
        <p:spPr>
          <a:xfrm>
            <a:off x="4943475" y="4475559"/>
            <a:ext cx="3593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Supabase Postgres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2"/>
          <p:cNvSpPr/>
          <p:nvPr/>
        </p:nvSpPr>
        <p:spPr>
          <a:xfrm>
            <a:off x="5006318" y="1448730"/>
            <a:ext cx="0" cy="2673214"/>
          </a:xfrm>
          <a:prstGeom prst="line">
            <a:avLst/>
          </a:prstGeom>
          <a:noFill/>
          <a:ln w="21431">
            <a:solidFill>
              <a:srgbClr val="8B5CF6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995602" y="4239816"/>
            <a:ext cx="3541179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400050"/>
            <a:ext cx="40099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· KEY MESSAGE</a:t>
            </a:r>
            <a:endParaRPr lang="en-US" sz="800" dirty="0"/>
          </a:p>
        </p:txBody>
      </p:sp>
      <p:sp>
        <p:nvSpPr>
          <p:cNvPr id="9" name="Text 5"/>
          <p:cNvSpPr/>
          <p:nvPr/>
        </p:nvSpPr>
        <p:spPr>
          <a:xfrm>
            <a:off x="457200" y="575072"/>
            <a:ext cx="4410987" cy="291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Génération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OpenRouter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6832885" y="614397"/>
            <a:ext cx="504416" cy="243488"/>
          </a:xfrm>
          <a:prstGeom prst="roundRect">
            <a:avLst>
              <a:gd name="adj" fmla="val 39115059"/>
            </a:avLst>
          </a:prstGeom>
          <a:solidFill>
            <a:srgbClr val="22C55E">
              <a:alpha val="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6925754" y="707566"/>
            <a:ext cx="57150" cy="57150"/>
          </a:xfrm>
          <a:prstGeom prst="ellipse">
            <a:avLst/>
          </a:prstGeom>
          <a:solidFill>
            <a:srgbClr val="22C55E"/>
          </a:solidFill>
          <a:ln/>
          <a:effectLst>
            <a:outerShdw sx="100000" sy="100000" kx="0" ky="0" algn="bl" rotWithShape="0" blurRad="101600" dist="50800" dir="16200000">
              <a:srgbClr val="22C55E">
                <a:alpha val="7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7013511" y="677205"/>
            <a:ext cx="25746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4AD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LIVE</a:t>
            </a:r>
            <a:endParaRPr lang="en-US" sz="619" dirty="0"/>
          </a:p>
        </p:txBody>
      </p:sp>
      <p:sp>
        <p:nvSpPr>
          <p:cNvPr id="13" name="Text 9"/>
          <p:cNvSpPr/>
          <p:nvPr/>
        </p:nvSpPr>
        <p:spPr>
          <a:xfrm>
            <a:off x="7423026" y="630128"/>
            <a:ext cx="1263774" cy="212027"/>
          </a:xfrm>
          <a:prstGeom prst="roundRect">
            <a:avLst>
              <a:gd name="adj" fmla="val 8984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7651626" y="684349"/>
            <a:ext cx="103517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 ACTIF</a:t>
            </a:r>
            <a:endParaRPr lang="en-US" sz="619" dirty="0"/>
          </a:p>
        </p:txBody>
      </p:sp>
      <p:sp>
        <p:nvSpPr>
          <p:cNvPr id="15" name="Text 11"/>
          <p:cNvSpPr/>
          <p:nvPr/>
        </p:nvSpPr>
        <p:spPr>
          <a:xfrm>
            <a:off x="7515895" y="68970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914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16533"/>
            <a:ext cx="4245508" cy="37269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772" y="1020105"/>
            <a:ext cx="4238365" cy="3719773"/>
          </a:xfrm>
          <a:prstGeom prst="roundRect">
            <a:avLst>
              <a:gd name="adj" fmla="val 3585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9765" y="566477"/>
            <a:ext cx="1143000" cy="11430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009765" y="566477"/>
            <a:ext cx="1143000" cy="1143000"/>
          </a:xfrm>
          <a:prstGeom prst="roundRect">
            <a:avLst>
              <a:gd name="adj" fmla="val 83325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168338"/>
            <a:ext cx="285750" cy="2857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6509" y="1207629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2" name="Text 15"/>
          <p:cNvSpPr/>
          <p:nvPr/>
        </p:nvSpPr>
        <p:spPr>
          <a:xfrm>
            <a:off x="978694" y="1166552"/>
            <a:ext cx="182892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RÉSULTAT DU TEST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978694" y="1284424"/>
            <a:ext cx="153710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de génération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610791" y="1573746"/>
            <a:ext cx="3938327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700088" y="167018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6" name="Text 19"/>
          <p:cNvSpPr/>
          <p:nvPr/>
        </p:nvSpPr>
        <p:spPr>
          <a:xfrm>
            <a:off x="914400" y="1663043"/>
            <a:ext cx="2135312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Job async créé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069714" y="1638468"/>
            <a:ext cx="1412967" cy="192024"/>
          </a:xfrm>
          <a:prstGeom prst="roundRect">
            <a:avLst>
              <a:gd name="adj" fmla="val 29762"/>
            </a:avLst>
          </a:prstGeom>
          <a:solidFill>
            <a:srgbClr val="6366F1">
              <a:alpha val="8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3092574" y="1648755"/>
            <a:ext cx="136724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jobId=job_mtbzmqvuab4004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610791" y="1973796"/>
            <a:ext cx="3938327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3"/>
          <p:cNvSpPr/>
          <p:nvPr/>
        </p:nvSpPr>
        <p:spPr>
          <a:xfrm>
            <a:off x="700088" y="207023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1" name="Text 24"/>
          <p:cNvSpPr/>
          <p:nvPr/>
        </p:nvSpPr>
        <p:spPr>
          <a:xfrm>
            <a:off x="914400" y="2063093"/>
            <a:ext cx="3167472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Génération réussie</a:t>
            </a:r>
            <a:endParaRPr lang="en-US" sz="800" dirty="0"/>
          </a:p>
        </p:txBody>
      </p:sp>
      <p:sp>
        <p:nvSpPr>
          <p:cNvPr id="32" name="Text 25"/>
          <p:cNvSpPr/>
          <p:nvPr/>
        </p:nvSpPr>
        <p:spPr>
          <a:xfrm>
            <a:off x="4111331" y="2038518"/>
            <a:ext cx="361893" cy="192024"/>
          </a:xfrm>
          <a:prstGeom prst="roundRect">
            <a:avLst>
              <a:gd name="adj" fmla="val 29762"/>
            </a:avLst>
          </a:prstGeom>
          <a:solidFill>
            <a:srgbClr val="6366F1">
              <a:alpha val="8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4124734" y="2048805"/>
            <a:ext cx="3350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~10s</a:t>
            </a:r>
            <a:endParaRPr lang="en-US" sz="800" dirty="0"/>
          </a:p>
        </p:txBody>
      </p:sp>
      <p:sp>
        <p:nvSpPr>
          <p:cNvPr id="34" name="Text 27"/>
          <p:cNvSpPr/>
          <p:nvPr/>
        </p:nvSpPr>
        <p:spPr>
          <a:xfrm>
            <a:off x="610791" y="2373846"/>
            <a:ext cx="3938327" cy="292894"/>
          </a:xfrm>
          <a:prstGeom prst="roundRect">
            <a:avLst>
              <a:gd name="adj" fmla="val 2601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28"/>
          <p:cNvSpPr/>
          <p:nvPr/>
        </p:nvSpPr>
        <p:spPr>
          <a:xfrm>
            <a:off x="700088" y="245599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6" name="Text 29"/>
          <p:cNvSpPr/>
          <p:nvPr/>
        </p:nvSpPr>
        <p:spPr>
          <a:xfrm>
            <a:off x="914400" y="2448855"/>
            <a:ext cx="3279539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1001 caractères générés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4196174" y="2450641"/>
            <a:ext cx="304275" cy="141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1001</a:t>
            </a:r>
            <a:endParaRPr lang="en-US" sz="731" dirty="0"/>
          </a:p>
        </p:txBody>
      </p:sp>
      <p:sp>
        <p:nvSpPr>
          <p:cNvPr id="38" name="Text 31"/>
          <p:cNvSpPr/>
          <p:nvPr/>
        </p:nvSpPr>
        <p:spPr>
          <a:xfrm>
            <a:off x="610791" y="2745321"/>
            <a:ext cx="3938327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700088" y="284176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0" name="Text 33"/>
          <p:cNvSpPr/>
          <p:nvPr/>
        </p:nvSpPr>
        <p:spPr>
          <a:xfrm>
            <a:off x="914400" y="2834618"/>
            <a:ext cx="2186880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3121283" y="2810043"/>
            <a:ext cx="1361398" cy="192024"/>
          </a:xfrm>
          <a:prstGeom prst="roundRect">
            <a:avLst>
              <a:gd name="adj" fmla="val 29762"/>
            </a:avLst>
          </a:prstGeom>
          <a:solidFill>
            <a:srgbClr val="6366F1">
              <a:alpha val="8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5"/>
          <p:cNvSpPr/>
          <p:nvPr/>
        </p:nvSpPr>
        <p:spPr>
          <a:xfrm>
            <a:off x="3144143" y="2820330"/>
            <a:ext cx="13156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minimax/minimax-m3:free</a:t>
            </a:r>
            <a:endParaRPr lang="en-US" sz="800" dirty="0"/>
          </a:p>
        </p:txBody>
      </p:sp>
      <p:sp>
        <p:nvSpPr>
          <p:cNvPr id="43" name="Text 36"/>
          <p:cNvSpPr/>
          <p:nvPr/>
        </p:nvSpPr>
        <p:spPr>
          <a:xfrm>
            <a:off x="610791" y="3145371"/>
            <a:ext cx="3938327" cy="321469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7"/>
          <p:cNvSpPr/>
          <p:nvPr/>
        </p:nvSpPr>
        <p:spPr>
          <a:xfrm>
            <a:off x="700088" y="324181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45" name="Text 38"/>
          <p:cNvSpPr/>
          <p:nvPr/>
        </p:nvSpPr>
        <p:spPr>
          <a:xfrm>
            <a:off x="914400" y="3234668"/>
            <a:ext cx="2857835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Provider</a:t>
            </a:r>
            <a:endParaRPr lang="en-US" sz="800" dirty="0"/>
          </a:p>
        </p:txBody>
      </p:sp>
      <p:sp>
        <p:nvSpPr>
          <p:cNvPr id="46" name="Text 39"/>
          <p:cNvSpPr/>
          <p:nvPr/>
        </p:nvSpPr>
        <p:spPr>
          <a:xfrm>
            <a:off x="3792237" y="3210093"/>
            <a:ext cx="690443" cy="192024"/>
          </a:xfrm>
          <a:prstGeom prst="roundRect">
            <a:avLst>
              <a:gd name="adj" fmla="val 29762"/>
            </a:avLst>
          </a:prstGeom>
          <a:solidFill>
            <a:srgbClr val="6366F1">
              <a:alpha val="8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3807970" y="3220380"/>
            <a:ext cx="6589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C7D2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openrouter</a:t>
            </a:r>
            <a:endParaRPr lang="en-US" sz="800" dirty="0"/>
          </a:p>
        </p:txBody>
      </p:sp>
      <p:sp>
        <p:nvSpPr>
          <p:cNvPr id="48" name="Text 41"/>
          <p:cNvSpPr/>
          <p:nvPr/>
        </p:nvSpPr>
        <p:spPr>
          <a:xfrm>
            <a:off x="610791" y="4154091"/>
            <a:ext cx="3938327" cy="435769"/>
          </a:xfrm>
          <a:prstGeom prst="roundRect">
            <a:avLst>
              <a:gd name="adj" fmla="val 26229"/>
            </a:avLst>
          </a:prstGeom>
          <a:solidFill>
            <a:srgbClr val="22C55E">
              <a:alpha val="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2"/>
          <p:cNvSpPr/>
          <p:nvPr/>
        </p:nvSpPr>
        <p:spPr>
          <a:xfrm>
            <a:off x="728663" y="432196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266" dirty="0"/>
          </a:p>
        </p:txBody>
      </p:sp>
      <p:sp>
        <p:nvSpPr>
          <p:cNvPr id="50" name="Text 43"/>
          <p:cNvSpPr/>
          <p:nvPr/>
        </p:nvSpPr>
        <p:spPr>
          <a:xfrm>
            <a:off x="914400" y="4314825"/>
            <a:ext cx="1132377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Coût de génération</a:t>
            </a:r>
            <a:endParaRPr lang="en-US" sz="800" dirty="0"/>
          </a:p>
        </p:txBody>
      </p:sp>
      <p:sp>
        <p:nvSpPr>
          <p:cNvPr id="51" name="Text 44"/>
          <p:cNvSpPr/>
          <p:nvPr/>
        </p:nvSpPr>
        <p:spPr>
          <a:xfrm>
            <a:off x="3615184" y="4271963"/>
            <a:ext cx="32932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4AD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0$</a:t>
            </a:r>
            <a:endParaRPr lang="en-US" sz="1350" dirty="0"/>
          </a:p>
        </p:txBody>
      </p:sp>
      <p:sp>
        <p:nvSpPr>
          <p:cNvPr id="52" name="Text 45"/>
          <p:cNvSpPr/>
          <p:nvPr/>
        </p:nvSpPr>
        <p:spPr>
          <a:xfrm>
            <a:off x="3849588" y="4350544"/>
            <a:ext cx="58165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gratuit</a:t>
            </a:r>
            <a:endParaRPr lang="en-US" sz="619" dirty="0"/>
          </a:p>
        </p:txBody>
      </p:sp>
      <p:sp>
        <p:nvSpPr>
          <p:cNvPr id="53" name="Text 46"/>
          <p:cNvSpPr/>
          <p:nvPr/>
        </p:nvSpPr>
        <p:spPr>
          <a:xfrm>
            <a:off x="4849155" y="1020105"/>
            <a:ext cx="3834073" cy="3719773"/>
          </a:xfrm>
          <a:prstGeom prst="roundRect">
            <a:avLst>
              <a:gd name="adj" fmla="val 358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995602" y="1186197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266" dirty="0"/>
          </a:p>
        </p:txBody>
      </p:sp>
      <p:sp>
        <p:nvSpPr>
          <p:cNvPr id="55" name="Text 48"/>
          <p:cNvSpPr/>
          <p:nvPr/>
        </p:nvSpPr>
        <p:spPr>
          <a:xfrm>
            <a:off x="5181340" y="1191555"/>
            <a:ext cx="15545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APERÇU DU CONTENU GÉNÉRÉ</a:t>
            </a:r>
            <a:endParaRPr lang="en-US" sz="800" dirty="0"/>
          </a:p>
        </p:txBody>
      </p:sp>
      <p:sp>
        <p:nvSpPr>
          <p:cNvPr id="56" name="Text 49"/>
          <p:cNvSpPr/>
          <p:nvPr/>
        </p:nvSpPr>
        <p:spPr>
          <a:xfrm>
            <a:off x="7844530" y="1156479"/>
            <a:ext cx="715112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0"/>
          <p:cNvSpPr/>
          <p:nvPr/>
        </p:nvSpPr>
        <p:spPr>
          <a:xfrm>
            <a:off x="7833034" y="1166552"/>
            <a:ext cx="73810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1001 CHARS</a:t>
            </a:r>
            <a:endParaRPr lang="en-US" sz="800" dirty="0"/>
          </a:p>
        </p:txBody>
      </p:sp>
      <p:sp>
        <p:nvSpPr>
          <p:cNvPr id="58" name="Text 51"/>
          <p:cNvSpPr/>
          <p:nvPr/>
        </p:nvSpPr>
        <p:spPr>
          <a:xfrm>
            <a:off x="5131333" y="2469617"/>
            <a:ext cx="3405448" cy="681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57"/>
              </a:lnSpc>
              <a:buNone/>
            </a:pPr>
            <a:r>
              <a:rPr lang="en-US" sz="1350" i="1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🎉</a:t>
            </a:r>
            <a:pPr algn="l" indent="0" marL="0">
              <a:lnSpc>
                <a:spcPts val="2057"/>
              </a:lnSpc>
              <a:buNone/>
            </a:pPr>
            <a:r>
              <a:rPr lang="en-US" sz="844" i="1" dirty="0">
                <a:solidFill>
                  <a:srgbClr val="F3F4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57"/>
              </a:lnSpc>
              <a:buNone/>
            </a:pPr>
            <a:r>
              <a:rPr lang="en-US" sz="844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PROMO EXCEPTIONNELLE</a:t>
            </a:r>
            <a:pPr algn="l" indent="0" marL="0">
              <a:lnSpc>
                <a:spcPts val="2057"/>
              </a:lnSpc>
              <a:buNone/>
            </a:pPr>
            <a:r>
              <a:rPr lang="en-US" sz="844" i="1" dirty="0">
                <a:solidFill>
                  <a:srgbClr val="F3F4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57"/>
              </a:lnSpc>
              <a:buNone/>
            </a:pPr>
            <a:r>
              <a:rPr lang="en-US" sz="1350" i="1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🎉</a:t>
            </a:r>
            <a:endParaRPr lang="en-US" sz="844" dirty="0"/>
          </a:p>
          <a:p>
            <a:pPr algn="l" indent="0" marL="0">
              <a:lnSpc>
                <a:spcPts val="2057"/>
              </a:lnSpc>
              <a:buNone/>
            </a:pPr>
            <a:r>
              <a:rPr lang="en-US" sz="844" i="1" dirty="0">
                <a:solidFill>
                  <a:srgbClr val="F3F4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Salut la communauté AfriLaunch ! </a:t>
            </a:r>
            <a:pPr algn="l" indent="0" marL="0">
              <a:lnSpc>
                <a:spcPts val="2057"/>
              </a:lnSpc>
              <a:buNone/>
            </a:pPr>
            <a:r>
              <a:rPr lang="en-US" sz="1350" i="1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👋</a:t>
            </a:r>
            <a:endParaRPr lang="en-US" sz="844" dirty="0"/>
          </a:p>
          <a:p>
            <a:pPr algn="l" indent="0" marL="0">
              <a:lnSpc>
                <a:spcPts val="2057"/>
              </a:lnSpc>
              <a:buNone/>
            </a:pPr>
            <a:r>
              <a:rPr lang="en-US" sz="844" i="1" dirty="0">
                <a:solidFill>
                  <a:srgbClr val="F3F4F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 a une offre qui va vous faire vibrer...</a:t>
            </a:r>
            <a:endParaRPr lang="en-US" sz="844" dirty="0"/>
          </a:p>
        </p:txBody>
      </p:sp>
      <p:sp>
        <p:nvSpPr>
          <p:cNvPr id="59" name="Text 52"/>
          <p:cNvSpPr/>
          <p:nvPr/>
        </p:nvSpPr>
        <p:spPr>
          <a:xfrm>
            <a:off x="4995602" y="4329113"/>
            <a:ext cx="1502196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STATUS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4995602" y="4450556"/>
            <a:ext cx="14620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ADE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Completed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6194971" y="4329113"/>
            <a:ext cx="1502343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LATENCE</a:t>
            </a:r>
            <a:endParaRPr lang="en-US" sz="800" dirty="0"/>
          </a:p>
        </p:txBody>
      </p:sp>
      <p:sp>
        <p:nvSpPr>
          <p:cNvPr id="62" name="Text 55"/>
          <p:cNvSpPr/>
          <p:nvPr/>
        </p:nvSpPr>
        <p:spPr>
          <a:xfrm>
            <a:off x="6194971" y="4450556"/>
            <a:ext cx="1804882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~10s</a:t>
            </a:r>
            <a:endParaRPr lang="en-US" sz="800" dirty="0"/>
          </a:p>
        </p:txBody>
      </p:sp>
      <p:sp>
        <p:nvSpPr>
          <p:cNvPr id="63" name="Text 56"/>
          <p:cNvSpPr/>
          <p:nvPr/>
        </p:nvSpPr>
        <p:spPr>
          <a:xfrm>
            <a:off x="7394451" y="4329113"/>
            <a:ext cx="1142330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PROVIDER</a:t>
            </a:r>
            <a:endParaRPr lang="en-US" sz="800" dirty="0"/>
          </a:p>
        </p:txBody>
      </p:sp>
      <p:sp>
        <p:nvSpPr>
          <p:cNvPr id="64" name="Text 57"/>
          <p:cNvSpPr/>
          <p:nvPr/>
        </p:nvSpPr>
        <p:spPr>
          <a:xfrm>
            <a:off x="7394451" y="4450556"/>
            <a:ext cx="114233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openrouter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41977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· BENTO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4617508" cy="275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8"/>
              </a:lnSpc>
              <a:buNone/>
            </a:pPr>
            <a:r>
              <a:rPr lang="en-US" sz="1913" b="1" spc="-4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Réseaux Sociaux </a:t>
            </a:r>
            <a:pPr algn="l" indent="0" marL="0">
              <a:lnSpc>
                <a:spcPts val="2008"/>
              </a:lnSpc>
              <a:buNone/>
            </a:pPr>
            <a:r>
              <a:rPr lang="en-US" sz="1913" b="1" spc="-4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</a:t>
            </a:r>
            <a:pPr algn="l" indent="0" marL="0">
              <a:lnSpc>
                <a:spcPts val="2008"/>
              </a:lnSpc>
              <a:buNone/>
            </a:pPr>
            <a:r>
              <a:rPr lang="en-US" sz="1913" b="1" spc="-4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008"/>
              </a:lnSpc>
              <a:buNone/>
            </a:pPr>
            <a:r>
              <a:rPr lang="en-US" sz="1913" b="1" spc="-4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</a:t>
            </a:r>
            <a:endParaRPr lang="en-US" sz="1913" dirty="0"/>
          </a:p>
        </p:txBody>
      </p:sp>
      <p:sp>
        <p:nvSpPr>
          <p:cNvPr id="8" name="Text 4"/>
          <p:cNvSpPr/>
          <p:nvPr/>
        </p:nvSpPr>
        <p:spPr>
          <a:xfrm>
            <a:off x="7628096" y="629347"/>
            <a:ext cx="1081564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860177" y="683568"/>
            <a:ext cx="84600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MODULES OK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743825" y="688925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05036"/>
            <a:ext cx="2659819" cy="3734842"/>
          </a:xfrm>
          <a:prstGeom prst="roundRect">
            <a:avLst>
              <a:gd name="adj" fmla="val 5013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9819" y="665708"/>
            <a:ext cx="800100" cy="8001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659819" y="665708"/>
            <a:ext cx="800100" cy="800100"/>
          </a:xfrm>
          <a:prstGeom prst="roundRect">
            <a:avLst>
              <a:gd name="adj" fmla="val 1190357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10791" y="1155055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22D3EE">
              <a:alpha val="12000"/>
            </a:srgbClr>
          </a:solidFill>
          <a:ln w="7144">
            <a:solidFill>
              <a:srgbClr val="22D3E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6509" y="11907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406" dirty="0"/>
          </a:p>
        </p:txBody>
      </p:sp>
      <p:sp>
        <p:nvSpPr>
          <p:cNvPr id="16" name="Text 11"/>
          <p:cNvSpPr/>
          <p:nvPr/>
        </p:nvSpPr>
        <p:spPr>
          <a:xfrm>
            <a:off x="978694" y="1155055"/>
            <a:ext cx="149567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22D3EE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SOCIAL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978694" y="1262211"/>
            <a:ext cx="1411024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RÉSEAUX SOCIAUX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607219" y="155867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19" name="Text 14"/>
          <p:cNvSpPr/>
          <p:nvPr/>
        </p:nvSpPr>
        <p:spPr>
          <a:xfrm>
            <a:off x="771525" y="1551533"/>
            <a:ext cx="2202619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Instagram connecté 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@hotel_albermon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607219" y="17837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21" name="Text 16"/>
          <p:cNvSpPr/>
          <p:nvPr/>
        </p:nvSpPr>
        <p:spPr>
          <a:xfrm>
            <a:off x="771525" y="1776561"/>
            <a:ext cx="2202619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compte connecté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07219" y="199444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23" name="Text 18"/>
          <p:cNvSpPr/>
          <p:nvPr/>
        </p:nvSpPr>
        <p:spPr>
          <a:xfrm>
            <a:off x="771525" y="1987302"/>
            <a:ext cx="2202619" cy="17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connect/disconnect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fonctionnelle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584359" y="4415480"/>
            <a:ext cx="826844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821531" y="4468416"/>
            <a:ext cx="1480989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700088" y="44702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2331095" y="4455914"/>
            <a:ext cx="64304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1/5 plateformes</a:t>
            </a:r>
            <a:endParaRPr lang="en-US" sz="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463" y="1001464"/>
            <a:ext cx="2666963" cy="374198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3242035" y="1005036"/>
            <a:ext cx="2659819" cy="3734842"/>
          </a:xfrm>
          <a:prstGeom prst="roundRect">
            <a:avLst>
              <a:gd name="adj" fmla="val 5013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082" y="665708"/>
            <a:ext cx="800100" cy="8001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41082" y="665708"/>
            <a:ext cx="800100" cy="800100"/>
          </a:xfrm>
          <a:prstGeom prst="roundRect">
            <a:avLst>
              <a:gd name="adj" fmla="val 1190357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3392053" y="1155055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6"/>
          <p:cNvSpPr/>
          <p:nvPr/>
        </p:nvSpPr>
        <p:spPr>
          <a:xfrm>
            <a:off x="3427772" y="11907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lang="en-US" sz="1406" dirty="0"/>
          </a:p>
        </p:txBody>
      </p:sp>
      <p:sp>
        <p:nvSpPr>
          <p:cNvPr id="34" name="Text 27"/>
          <p:cNvSpPr/>
          <p:nvPr/>
        </p:nvSpPr>
        <p:spPr>
          <a:xfrm>
            <a:off x="3759957" y="1155055"/>
            <a:ext cx="117008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MARKET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3759957" y="1262211"/>
            <a:ext cx="110385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MARKETPLACE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3388482" y="1564928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37" name="Text 30"/>
          <p:cNvSpPr/>
          <p:nvPr/>
        </p:nvSpPr>
        <p:spPr>
          <a:xfrm>
            <a:off x="3552788" y="1551533"/>
            <a:ext cx="22026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agents premium disponibles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3392053" y="1774775"/>
            <a:ext cx="2359782" cy="292894"/>
          </a:xfrm>
          <a:prstGeom prst="roundRect">
            <a:avLst>
              <a:gd name="adj" fmla="val 260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2"/>
          <p:cNvSpPr/>
          <p:nvPr/>
        </p:nvSpPr>
        <p:spPr>
          <a:xfrm>
            <a:off x="3467063" y="1835497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🏠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3667088" y="1856929"/>
            <a:ext cx="15082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Immobilier Sénégal</a:t>
            </a:r>
            <a:endParaRPr lang="en-US" sz="800" dirty="0"/>
          </a:p>
        </p:txBody>
      </p:sp>
      <p:sp>
        <p:nvSpPr>
          <p:cNvPr id="41" name="Text 34"/>
          <p:cNvSpPr/>
          <p:nvPr/>
        </p:nvSpPr>
        <p:spPr>
          <a:xfrm>
            <a:off x="5136199" y="1856929"/>
            <a:ext cx="5651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9.99$/mois</a:t>
            </a:r>
            <a:endParaRPr lang="en-US" sz="675" dirty="0"/>
          </a:p>
        </p:txBody>
      </p:sp>
      <p:sp>
        <p:nvSpPr>
          <p:cNvPr id="42" name="Text 35"/>
          <p:cNvSpPr/>
          <p:nvPr/>
        </p:nvSpPr>
        <p:spPr>
          <a:xfrm>
            <a:off x="3392053" y="2131963"/>
            <a:ext cx="2359782" cy="292894"/>
          </a:xfrm>
          <a:prstGeom prst="roundRect">
            <a:avLst>
              <a:gd name="adj" fmla="val 260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6"/>
          <p:cNvSpPr/>
          <p:nvPr/>
        </p:nvSpPr>
        <p:spPr>
          <a:xfrm>
            <a:off x="3467063" y="2192685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🍽️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667088" y="2214116"/>
            <a:ext cx="15082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Restaurant Abidjan</a:t>
            </a:r>
            <a:endParaRPr lang="en-US" sz="800" dirty="0"/>
          </a:p>
        </p:txBody>
      </p:sp>
      <p:sp>
        <p:nvSpPr>
          <p:cNvPr id="45" name="Text 38"/>
          <p:cNvSpPr/>
          <p:nvPr/>
        </p:nvSpPr>
        <p:spPr>
          <a:xfrm>
            <a:off x="5136199" y="2214116"/>
            <a:ext cx="5651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7.99$/mois</a:t>
            </a:r>
            <a:endParaRPr lang="en-US" sz="675" dirty="0"/>
          </a:p>
        </p:txBody>
      </p:sp>
      <p:sp>
        <p:nvSpPr>
          <p:cNvPr id="46" name="Text 39"/>
          <p:cNvSpPr/>
          <p:nvPr/>
        </p:nvSpPr>
        <p:spPr>
          <a:xfrm>
            <a:off x="3392053" y="2489150"/>
            <a:ext cx="2359782" cy="292894"/>
          </a:xfrm>
          <a:prstGeom prst="roundRect">
            <a:avLst>
              <a:gd name="adj" fmla="val 26016"/>
            </a:avLst>
          </a:prstGeom>
          <a:solidFill>
            <a:srgbClr val="FFFFFF">
              <a:alpha val="3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0"/>
          <p:cNvSpPr/>
          <p:nvPr/>
        </p:nvSpPr>
        <p:spPr>
          <a:xfrm>
            <a:off x="3467063" y="2549872"/>
            <a:ext cx="14287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3667088" y="2571304"/>
            <a:ext cx="145401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Import-Export Maroc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5079001" y="2571304"/>
            <a:ext cx="6278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14.99$/mois</a:t>
            </a:r>
            <a:endParaRPr lang="en-US" sz="675" dirty="0"/>
          </a:p>
        </p:txBody>
      </p:sp>
      <p:sp>
        <p:nvSpPr>
          <p:cNvPr id="50" name="Text 43"/>
          <p:cNvSpPr/>
          <p:nvPr/>
        </p:nvSpPr>
        <p:spPr>
          <a:xfrm>
            <a:off x="3365622" y="4415480"/>
            <a:ext cx="722590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4"/>
          <p:cNvSpPr/>
          <p:nvPr/>
        </p:nvSpPr>
        <p:spPr>
          <a:xfrm>
            <a:off x="3602794" y="4468416"/>
            <a:ext cx="1438126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PREMIUM</a:t>
            </a:r>
            <a:endParaRPr lang="en-US" sz="800" dirty="0"/>
          </a:p>
        </p:txBody>
      </p:sp>
      <p:sp>
        <p:nvSpPr>
          <p:cNvPr id="52" name="Text 45"/>
          <p:cNvSpPr/>
          <p:nvPr/>
        </p:nvSpPr>
        <p:spPr>
          <a:xfrm>
            <a:off x="3481350" y="44702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800" dirty="0"/>
          </a:p>
        </p:txBody>
      </p:sp>
      <p:sp>
        <p:nvSpPr>
          <p:cNvPr id="53" name="Text 46"/>
          <p:cNvSpPr/>
          <p:nvPr/>
        </p:nvSpPr>
        <p:spPr>
          <a:xfrm>
            <a:off x="5069495" y="4455914"/>
            <a:ext cx="68591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+3 autres agents</a:t>
            </a:r>
            <a:endParaRPr lang="en-US" sz="600" dirty="0"/>
          </a:p>
        </p:txBody>
      </p:sp>
      <p:sp>
        <p:nvSpPr>
          <p:cNvPr id="54" name="Text 47"/>
          <p:cNvSpPr/>
          <p:nvPr/>
        </p:nvSpPr>
        <p:spPr>
          <a:xfrm>
            <a:off x="6023297" y="1005036"/>
            <a:ext cx="2659931" cy="3734842"/>
          </a:xfrm>
          <a:prstGeom prst="roundRect">
            <a:avLst>
              <a:gd name="adj" fmla="val 5013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2456" y="665708"/>
            <a:ext cx="800100" cy="800100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8222456" y="665708"/>
            <a:ext cx="800100" cy="800100"/>
          </a:xfrm>
          <a:prstGeom prst="roundRect">
            <a:avLst>
              <a:gd name="adj" fmla="val 11903571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49"/>
          <p:cNvSpPr/>
          <p:nvPr/>
        </p:nvSpPr>
        <p:spPr>
          <a:xfrm>
            <a:off x="6173316" y="1155055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0"/>
          <p:cNvSpPr/>
          <p:nvPr/>
        </p:nvSpPr>
        <p:spPr>
          <a:xfrm>
            <a:off x="6209035" y="1190774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406" dirty="0"/>
          </a:p>
        </p:txBody>
      </p:sp>
      <p:sp>
        <p:nvSpPr>
          <p:cNvPr id="59" name="Text 51"/>
          <p:cNvSpPr/>
          <p:nvPr/>
        </p:nvSpPr>
        <p:spPr>
          <a:xfrm>
            <a:off x="6541219" y="1155055"/>
            <a:ext cx="1063308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PUBLISH</a:t>
            </a:r>
            <a:endParaRPr lang="en-US" sz="800" dirty="0"/>
          </a:p>
        </p:txBody>
      </p:sp>
      <p:sp>
        <p:nvSpPr>
          <p:cNvPr id="60" name="Text 52"/>
          <p:cNvSpPr/>
          <p:nvPr/>
        </p:nvSpPr>
        <p:spPr>
          <a:xfrm>
            <a:off x="6541219" y="1262211"/>
            <a:ext cx="1003127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PUBLICATION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6169744" y="155867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2" name="Text 54"/>
          <p:cNvSpPr/>
          <p:nvPr/>
        </p:nvSpPr>
        <p:spPr>
          <a:xfrm>
            <a:off x="6334051" y="1551533"/>
            <a:ext cx="2202731" cy="17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publish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créée</a:t>
            </a:r>
            <a:endParaRPr lang="en-US" sz="800" dirty="0"/>
          </a:p>
        </p:txBody>
      </p:sp>
      <p:sp>
        <p:nvSpPr>
          <p:cNvPr id="63" name="Text 55"/>
          <p:cNvSpPr/>
          <p:nvPr/>
        </p:nvSpPr>
        <p:spPr>
          <a:xfrm>
            <a:off x="6169744" y="178370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4" name="Text 56"/>
          <p:cNvSpPr/>
          <p:nvPr/>
        </p:nvSpPr>
        <p:spPr>
          <a:xfrm>
            <a:off x="6334051" y="1776561"/>
            <a:ext cx="2202731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plateformes supportées</a:t>
            </a:r>
            <a:endParaRPr lang="en-US" sz="800" dirty="0"/>
          </a:p>
        </p:txBody>
      </p:sp>
      <p:sp>
        <p:nvSpPr>
          <p:cNvPr id="65" name="Text 57"/>
          <p:cNvSpPr/>
          <p:nvPr/>
        </p:nvSpPr>
        <p:spPr>
          <a:xfrm>
            <a:off x="6169744" y="1994446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055" dirty="0"/>
          </a:p>
        </p:txBody>
      </p:sp>
      <p:sp>
        <p:nvSpPr>
          <p:cNvPr id="66" name="Text 58"/>
          <p:cNvSpPr/>
          <p:nvPr/>
        </p:nvSpPr>
        <p:spPr>
          <a:xfrm>
            <a:off x="6334051" y="1987302"/>
            <a:ext cx="2202731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Programmation disponible</a:t>
            </a:r>
            <a:endParaRPr lang="en-US" sz="800" dirty="0"/>
          </a:p>
        </p:txBody>
      </p:sp>
      <p:sp>
        <p:nvSpPr>
          <p:cNvPr id="67" name="Text 59"/>
          <p:cNvSpPr/>
          <p:nvPr/>
        </p:nvSpPr>
        <p:spPr>
          <a:xfrm>
            <a:off x="6169744" y="2187327"/>
            <a:ext cx="214424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0"/>
          <p:cNvSpPr/>
          <p:nvPr/>
        </p:nvSpPr>
        <p:spPr>
          <a:xfrm>
            <a:off x="6169744" y="2198043"/>
            <a:ext cx="2144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IG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6427031" y="2187327"/>
            <a:ext cx="214424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2"/>
          <p:cNvSpPr/>
          <p:nvPr/>
        </p:nvSpPr>
        <p:spPr>
          <a:xfrm>
            <a:off x="6427031" y="2198043"/>
            <a:ext cx="214424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FB</a:t>
            </a:r>
            <a:endParaRPr lang="en-US" sz="800" dirty="0"/>
          </a:p>
        </p:txBody>
      </p:sp>
      <p:sp>
        <p:nvSpPr>
          <p:cNvPr id="71" name="Text 63"/>
          <p:cNvSpPr/>
          <p:nvPr/>
        </p:nvSpPr>
        <p:spPr>
          <a:xfrm>
            <a:off x="6684318" y="2187327"/>
            <a:ext cx="471599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4"/>
          <p:cNvSpPr/>
          <p:nvPr/>
        </p:nvSpPr>
        <p:spPr>
          <a:xfrm>
            <a:off x="6640981" y="2198043"/>
            <a:ext cx="5582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LinkedIn</a:t>
            </a:r>
            <a:endParaRPr lang="en-US" sz="800" dirty="0"/>
          </a:p>
        </p:txBody>
      </p:sp>
      <p:sp>
        <p:nvSpPr>
          <p:cNvPr id="73" name="Text 65"/>
          <p:cNvSpPr/>
          <p:nvPr/>
        </p:nvSpPr>
        <p:spPr>
          <a:xfrm>
            <a:off x="7198779" y="2187327"/>
            <a:ext cx="171562" cy="200025"/>
          </a:xfrm>
          <a:prstGeom prst="roundRect">
            <a:avLst>
              <a:gd name="adj" fmla="val 33312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6"/>
          <p:cNvSpPr/>
          <p:nvPr/>
        </p:nvSpPr>
        <p:spPr>
          <a:xfrm>
            <a:off x="7198779" y="2198043"/>
            <a:ext cx="17156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X</a:t>
            </a:r>
            <a:endParaRPr lang="en-US" sz="800" dirty="0"/>
          </a:p>
        </p:txBody>
      </p:sp>
      <p:sp>
        <p:nvSpPr>
          <p:cNvPr id="75" name="Text 67"/>
          <p:cNvSpPr/>
          <p:nvPr/>
        </p:nvSpPr>
        <p:spPr>
          <a:xfrm>
            <a:off x="7413203" y="2187327"/>
            <a:ext cx="471599" cy="200025"/>
          </a:xfrm>
          <a:prstGeom prst="roundRect">
            <a:avLst>
              <a:gd name="adj" fmla="val 2857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6" name="Text 68"/>
          <p:cNvSpPr/>
          <p:nvPr/>
        </p:nvSpPr>
        <p:spPr>
          <a:xfrm>
            <a:off x="7369867" y="2198043"/>
            <a:ext cx="558272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WhatsApp</a:t>
            </a:r>
            <a:endParaRPr lang="en-US" sz="800" dirty="0"/>
          </a:p>
        </p:txBody>
      </p:sp>
      <p:sp>
        <p:nvSpPr>
          <p:cNvPr id="77" name="Text 69"/>
          <p:cNvSpPr/>
          <p:nvPr/>
        </p:nvSpPr>
        <p:spPr>
          <a:xfrm>
            <a:off x="6146884" y="4415480"/>
            <a:ext cx="913686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8" name="Text 70"/>
          <p:cNvSpPr/>
          <p:nvPr/>
        </p:nvSpPr>
        <p:spPr>
          <a:xfrm>
            <a:off x="6384057" y="4468416"/>
            <a:ext cx="2152724" cy="121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SCHEDULABLE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6262613" y="4470202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352041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· COMPARISON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3696439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Paiement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Monétisation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8112059" y="644415"/>
            <a:ext cx="596847" cy="212027"/>
          </a:xfrm>
          <a:prstGeom prst="roundRect">
            <a:avLst>
              <a:gd name="adj" fmla="val 8984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358341" y="698636"/>
            <a:ext cx="332882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FCFA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227033" y="7039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20105"/>
            <a:ext cx="4036219" cy="3719773"/>
          </a:xfrm>
          <a:prstGeom prst="roundRect">
            <a:avLst>
              <a:gd name="adj" fmla="val 3585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919" y="680777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21919" y="680777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10791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6509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6" name="Text 11"/>
          <p:cNvSpPr/>
          <p:nvPr/>
        </p:nvSpPr>
        <p:spPr>
          <a:xfrm>
            <a:off x="978694" y="1170124"/>
            <a:ext cx="172768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PAIEMENT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978694" y="1287996"/>
            <a:ext cx="145201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PAIEMENT MANUEL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610791" y="1598749"/>
            <a:ext cx="3736181" cy="525066"/>
          </a:xfrm>
          <a:prstGeom prst="roundRect">
            <a:avLst>
              <a:gd name="adj" fmla="val 217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14375" y="171662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0" name="Text 15"/>
          <p:cNvSpPr/>
          <p:nvPr/>
        </p:nvSpPr>
        <p:spPr>
          <a:xfrm>
            <a:off x="928688" y="1714835"/>
            <a:ext cx="300305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Ordre créé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3934135" y="1692261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7"/>
          <p:cNvSpPr/>
          <p:nvPr/>
        </p:nvSpPr>
        <p:spPr>
          <a:xfrm>
            <a:off x="3946029" y="1702333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928688" y="1898786"/>
            <a:ext cx="33147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 mensuel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10791" y="2216683"/>
            <a:ext cx="3736181" cy="510778"/>
          </a:xfrm>
          <a:prstGeom prst="roundRect">
            <a:avLst>
              <a:gd name="adj" fmla="val 2237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714375" y="233455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26" name="Text 21"/>
          <p:cNvSpPr/>
          <p:nvPr/>
        </p:nvSpPr>
        <p:spPr>
          <a:xfrm>
            <a:off x="928688" y="2329197"/>
            <a:ext cx="2590726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Montant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481607" y="2320268"/>
            <a:ext cx="813873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15 000 FCFA</a:t>
            </a:r>
            <a:endParaRPr lang="en-US" sz="844" dirty="0"/>
          </a:p>
        </p:txBody>
      </p:sp>
      <p:sp>
        <p:nvSpPr>
          <p:cNvPr id="28" name="Text 23"/>
          <p:cNvSpPr/>
          <p:nvPr/>
        </p:nvSpPr>
        <p:spPr>
          <a:xfrm>
            <a:off x="928688" y="2509577"/>
            <a:ext cx="34244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Tarif plan Pro · paiement manuel validé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610791" y="2820330"/>
            <a:ext cx="3736181" cy="517922"/>
          </a:xfrm>
          <a:prstGeom prst="roundRect">
            <a:avLst>
              <a:gd name="adj" fmla="val 2206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714375" y="2938202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1" name="Text 26"/>
          <p:cNvSpPr/>
          <p:nvPr/>
        </p:nvSpPr>
        <p:spPr>
          <a:xfrm>
            <a:off x="928688" y="2936416"/>
            <a:ext cx="2510024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Méthode utilisée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3430139" y="2913842"/>
            <a:ext cx="836109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3404811" y="2923915"/>
            <a:ext cx="88676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MOBILE MONEY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928688" y="3120368"/>
            <a:ext cx="342442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MTN Mobile Money · </a:t>
            </a:r>
            <a:pPr algn="l" indent="0" marL="0">
              <a:lnSpc>
                <a:spcPts val="900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Cameroun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610791" y="3431121"/>
            <a:ext cx="3736181" cy="571500"/>
          </a:xfrm>
          <a:prstGeom prst="roundRect">
            <a:avLst>
              <a:gd name="adj" fmla="val 2000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714375" y="354899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66" dirty="0"/>
          </a:p>
        </p:txBody>
      </p:sp>
      <p:sp>
        <p:nvSpPr>
          <p:cNvPr id="37" name="Text 32"/>
          <p:cNvSpPr/>
          <p:nvPr/>
        </p:nvSpPr>
        <p:spPr>
          <a:xfrm>
            <a:off x="928688" y="3534705"/>
            <a:ext cx="3043126" cy="156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méthodes disponibles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962090" y="3541849"/>
            <a:ext cx="3053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/ 3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928688" y="3724872"/>
            <a:ext cx="371921" cy="184023"/>
          </a:xfrm>
          <a:prstGeom prst="roundRect">
            <a:avLst>
              <a:gd name="adj" fmla="val 3105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5"/>
          <p:cNvSpPr/>
          <p:nvPr/>
        </p:nvSpPr>
        <p:spPr>
          <a:xfrm>
            <a:off x="1085385" y="3777593"/>
            <a:ext cx="258552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MTN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992981" y="377759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1343471" y="3724872"/>
            <a:ext cx="500955" cy="184023"/>
          </a:xfrm>
          <a:prstGeom prst="roundRect">
            <a:avLst>
              <a:gd name="adj" fmla="val 3105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8"/>
          <p:cNvSpPr/>
          <p:nvPr/>
        </p:nvSpPr>
        <p:spPr>
          <a:xfrm>
            <a:off x="1522065" y="3777593"/>
            <a:ext cx="34379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Orange</a:t>
            </a:r>
            <a:endParaRPr lang="en-US" sz="600" dirty="0"/>
          </a:p>
        </p:txBody>
      </p:sp>
      <p:sp>
        <p:nvSpPr>
          <p:cNvPr id="44" name="Text 39"/>
          <p:cNvSpPr/>
          <p:nvPr/>
        </p:nvSpPr>
        <p:spPr>
          <a:xfrm>
            <a:off x="1407765" y="377759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▯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1887289" y="3724872"/>
            <a:ext cx="587015" cy="184023"/>
          </a:xfrm>
          <a:prstGeom prst="roundRect">
            <a:avLst>
              <a:gd name="adj" fmla="val 3105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1"/>
          <p:cNvSpPr/>
          <p:nvPr/>
        </p:nvSpPr>
        <p:spPr>
          <a:xfrm>
            <a:off x="2065883" y="3777593"/>
            <a:ext cx="217750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Virement</a:t>
            </a:r>
            <a:endParaRPr lang="en-US" sz="800" dirty="0"/>
          </a:p>
        </p:txBody>
      </p:sp>
      <p:sp>
        <p:nvSpPr>
          <p:cNvPr id="47" name="Text 42"/>
          <p:cNvSpPr/>
          <p:nvPr/>
        </p:nvSpPr>
        <p:spPr>
          <a:xfrm>
            <a:off x="1951583" y="3777593"/>
            <a:ext cx="9144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1D5D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800" dirty="0"/>
          </a:p>
        </p:txBody>
      </p:sp>
      <p:sp>
        <p:nvSpPr>
          <p:cNvPr id="48" name="Text 43"/>
          <p:cNvSpPr/>
          <p:nvPr/>
        </p:nvSpPr>
        <p:spPr>
          <a:xfrm>
            <a:off x="607219" y="448806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lang="en-US" sz="914" dirty="0"/>
          </a:p>
        </p:txBody>
      </p:sp>
      <p:sp>
        <p:nvSpPr>
          <p:cNvPr id="49" name="Text 44"/>
          <p:cNvSpPr/>
          <p:nvPr/>
        </p:nvSpPr>
        <p:spPr>
          <a:xfrm>
            <a:off x="757238" y="4475559"/>
            <a:ext cx="35933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Validation manuelle opérateur</a:t>
            </a:r>
            <a:endParaRPr lang="en-US" sz="800" dirty="0"/>
          </a:p>
        </p:txBody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016533"/>
            <a:ext cx="4043363" cy="3726917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4647009" y="1020105"/>
            <a:ext cx="4036219" cy="3719773"/>
          </a:xfrm>
          <a:prstGeom prst="roundRect">
            <a:avLst>
              <a:gd name="adj" fmla="val 3585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156" y="680777"/>
            <a:ext cx="914400" cy="914400"/>
          </a:xfrm>
          <a:prstGeom prst="rect">
            <a:avLst/>
          </a:prstGeom>
        </p:spPr>
      </p:pic>
      <p:sp>
        <p:nvSpPr>
          <p:cNvPr id="53" name="Text 46"/>
          <p:cNvSpPr/>
          <p:nvPr/>
        </p:nvSpPr>
        <p:spPr>
          <a:xfrm>
            <a:off x="8108156" y="680777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47"/>
          <p:cNvSpPr/>
          <p:nvPr/>
        </p:nvSpPr>
        <p:spPr>
          <a:xfrm>
            <a:off x="4797028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8"/>
          <p:cNvSpPr/>
          <p:nvPr/>
        </p:nvSpPr>
        <p:spPr>
          <a:xfrm>
            <a:off x="4832747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♛</a:t>
            </a:r>
            <a:endParaRPr lang="en-US" sz="1406" dirty="0"/>
          </a:p>
        </p:txBody>
      </p:sp>
      <p:sp>
        <p:nvSpPr>
          <p:cNvPr id="56" name="Text 49"/>
          <p:cNvSpPr/>
          <p:nvPr/>
        </p:nvSpPr>
        <p:spPr>
          <a:xfrm>
            <a:off x="5164931" y="1170124"/>
            <a:ext cx="161640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PLANS</a:t>
            </a:r>
            <a:endParaRPr lang="en-US" sz="800" dirty="0"/>
          </a:p>
        </p:txBody>
      </p:sp>
      <p:sp>
        <p:nvSpPr>
          <p:cNvPr id="57" name="Text 50"/>
          <p:cNvSpPr/>
          <p:nvPr/>
        </p:nvSpPr>
        <p:spPr>
          <a:xfrm>
            <a:off x="5164931" y="1287996"/>
            <a:ext cx="151633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PLANS &amp; CRÉDITS</a:t>
            </a:r>
            <a:endParaRPr lang="en-US" sz="1013" dirty="0"/>
          </a:p>
        </p:txBody>
      </p:sp>
      <p:sp>
        <p:nvSpPr>
          <p:cNvPr id="58" name="Text 51"/>
          <p:cNvSpPr/>
          <p:nvPr/>
        </p:nvSpPr>
        <p:spPr>
          <a:xfrm>
            <a:off x="4797028" y="1598749"/>
            <a:ext cx="1828800" cy="678656"/>
          </a:xfrm>
          <a:prstGeom prst="roundRect">
            <a:avLst>
              <a:gd name="adj" fmla="val 1684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4900613" y="1688046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STARTER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6422231" y="16969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984" dirty="0"/>
          </a:p>
        </p:txBody>
      </p:sp>
      <p:sp>
        <p:nvSpPr>
          <p:cNvPr id="61" name="Text 54"/>
          <p:cNvSpPr/>
          <p:nvPr/>
        </p:nvSpPr>
        <p:spPr>
          <a:xfrm>
            <a:off x="4900613" y="1848780"/>
            <a:ext cx="1621631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5 000 </a:t>
            </a:r>
            <a:pPr algn="l" indent="0" marL="0">
              <a:lnSpc>
                <a:spcPts val="1519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FCFA</a:t>
            </a:r>
            <a:endParaRPr lang="en-US" sz="1013" dirty="0"/>
          </a:p>
        </p:txBody>
      </p:sp>
      <p:sp>
        <p:nvSpPr>
          <p:cNvPr id="62" name="Text 55"/>
          <p:cNvSpPr/>
          <p:nvPr/>
        </p:nvSpPr>
        <p:spPr>
          <a:xfrm>
            <a:off x="4900613" y="2070236"/>
            <a:ext cx="16216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crédits</a:t>
            </a:r>
            <a:endParaRPr lang="en-US" sz="800" dirty="0"/>
          </a:p>
        </p:txBody>
      </p:sp>
      <p:pic>
        <p:nvPicPr>
          <p:cNvPr id="6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838" y="1595177"/>
            <a:ext cx="1835944" cy="685800"/>
          </a:xfrm>
          <a:prstGeom prst="rect">
            <a:avLst/>
          </a:prstGeom>
        </p:spPr>
      </p:pic>
      <p:sp>
        <p:nvSpPr>
          <p:cNvPr id="64" name="Text 56"/>
          <p:cNvSpPr/>
          <p:nvPr/>
        </p:nvSpPr>
        <p:spPr>
          <a:xfrm>
            <a:off x="6704409" y="1598749"/>
            <a:ext cx="1828800" cy="678656"/>
          </a:xfrm>
          <a:prstGeom prst="roundRect">
            <a:avLst>
              <a:gd name="adj" fmla="val 16842"/>
            </a:avLst>
          </a:prstGeom>
          <a:noFill/>
          <a:ln w="7144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50800" dir="16200000">
              <a:srgbClr val="8B5CF6">
                <a:alpha val="1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7"/>
          <p:cNvSpPr/>
          <p:nvPr/>
        </p:nvSpPr>
        <p:spPr>
          <a:xfrm>
            <a:off x="6807994" y="1688046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</a:t>
            </a:r>
            <a:endParaRPr lang="en-US" sz="800" dirty="0"/>
          </a:p>
        </p:txBody>
      </p:sp>
      <p:sp>
        <p:nvSpPr>
          <p:cNvPr id="66" name="Text 58"/>
          <p:cNvSpPr/>
          <p:nvPr/>
        </p:nvSpPr>
        <p:spPr>
          <a:xfrm>
            <a:off x="8329613" y="1696975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lang="en-US" sz="984" dirty="0"/>
          </a:p>
        </p:txBody>
      </p:sp>
      <p:sp>
        <p:nvSpPr>
          <p:cNvPr id="67" name="Text 59"/>
          <p:cNvSpPr/>
          <p:nvPr/>
        </p:nvSpPr>
        <p:spPr>
          <a:xfrm>
            <a:off x="6807994" y="1848780"/>
            <a:ext cx="1621631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15 000 </a:t>
            </a:r>
            <a:pPr algn="l" indent="0" marL="0">
              <a:lnSpc>
                <a:spcPts val="1519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FCFA</a:t>
            </a:r>
            <a:endParaRPr lang="en-US" sz="1013" dirty="0"/>
          </a:p>
        </p:txBody>
      </p:sp>
      <p:sp>
        <p:nvSpPr>
          <p:cNvPr id="68" name="Text 60"/>
          <p:cNvSpPr/>
          <p:nvPr/>
        </p:nvSpPr>
        <p:spPr>
          <a:xfrm>
            <a:off x="6807994" y="2070236"/>
            <a:ext cx="16216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5 000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crédits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BBF24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⭐</a:t>
            </a:r>
            <a:endParaRPr lang="en-US" sz="800" dirty="0"/>
          </a:p>
        </p:txBody>
      </p:sp>
      <p:sp>
        <p:nvSpPr>
          <p:cNvPr id="69" name="Text 61"/>
          <p:cNvSpPr/>
          <p:nvPr/>
        </p:nvSpPr>
        <p:spPr>
          <a:xfrm>
            <a:off x="4797028" y="2355986"/>
            <a:ext cx="1828800" cy="678656"/>
          </a:xfrm>
          <a:prstGeom prst="roundRect">
            <a:avLst>
              <a:gd name="adj" fmla="val 1684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0" name="Text 62"/>
          <p:cNvSpPr/>
          <p:nvPr/>
        </p:nvSpPr>
        <p:spPr>
          <a:xfrm>
            <a:off x="4900613" y="244528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BUSINESS</a:t>
            </a:r>
            <a:endParaRPr lang="en-US" sz="800" dirty="0"/>
          </a:p>
        </p:txBody>
      </p:sp>
      <p:sp>
        <p:nvSpPr>
          <p:cNvPr id="71" name="Text 63"/>
          <p:cNvSpPr/>
          <p:nvPr/>
        </p:nvSpPr>
        <p:spPr>
          <a:xfrm>
            <a:off x="6422231" y="24542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984" dirty="0"/>
          </a:p>
        </p:txBody>
      </p:sp>
      <p:sp>
        <p:nvSpPr>
          <p:cNvPr id="72" name="Text 64"/>
          <p:cNvSpPr/>
          <p:nvPr/>
        </p:nvSpPr>
        <p:spPr>
          <a:xfrm>
            <a:off x="4900613" y="2606018"/>
            <a:ext cx="1621631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40 000 </a:t>
            </a:r>
            <a:pPr algn="l" indent="0" marL="0">
              <a:lnSpc>
                <a:spcPts val="1519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FCFA</a:t>
            </a:r>
            <a:endParaRPr lang="en-US" sz="1013" dirty="0"/>
          </a:p>
        </p:txBody>
      </p:sp>
      <p:sp>
        <p:nvSpPr>
          <p:cNvPr id="73" name="Text 65"/>
          <p:cNvSpPr/>
          <p:nvPr/>
        </p:nvSpPr>
        <p:spPr>
          <a:xfrm>
            <a:off x="4900613" y="2827474"/>
            <a:ext cx="16216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50 000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crédits</a:t>
            </a:r>
            <a:endParaRPr lang="en-US" sz="800" dirty="0"/>
          </a:p>
        </p:txBody>
      </p:sp>
      <p:sp>
        <p:nvSpPr>
          <p:cNvPr id="74" name="Text 66"/>
          <p:cNvSpPr/>
          <p:nvPr/>
        </p:nvSpPr>
        <p:spPr>
          <a:xfrm>
            <a:off x="6704409" y="2355986"/>
            <a:ext cx="1828800" cy="678656"/>
          </a:xfrm>
          <a:prstGeom prst="roundRect">
            <a:avLst>
              <a:gd name="adj" fmla="val 16842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7"/>
          <p:cNvSpPr/>
          <p:nvPr/>
        </p:nvSpPr>
        <p:spPr>
          <a:xfrm>
            <a:off x="6807994" y="2445283"/>
            <a:ext cx="150733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76" name="Text 68"/>
          <p:cNvSpPr/>
          <p:nvPr/>
        </p:nvSpPr>
        <p:spPr>
          <a:xfrm>
            <a:off x="8329613" y="2454213"/>
            <a:ext cx="100013" cy="1000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8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▥</a:t>
            </a:r>
            <a:endParaRPr lang="en-US" sz="984" dirty="0"/>
          </a:p>
        </p:txBody>
      </p:sp>
      <p:sp>
        <p:nvSpPr>
          <p:cNvPr id="77" name="Text 69"/>
          <p:cNvSpPr/>
          <p:nvPr/>
        </p:nvSpPr>
        <p:spPr>
          <a:xfrm>
            <a:off x="6807994" y="2606018"/>
            <a:ext cx="1621631" cy="1940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22D3E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150 000 </a:t>
            </a:r>
            <a:pPr algn="l" indent="0" marL="0">
              <a:lnSpc>
                <a:spcPts val="1519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FCFA</a:t>
            </a:r>
            <a:endParaRPr lang="en-US" sz="1013" dirty="0"/>
          </a:p>
        </p:txBody>
      </p:sp>
      <p:sp>
        <p:nvSpPr>
          <p:cNvPr id="78" name="Text 70"/>
          <p:cNvSpPr/>
          <p:nvPr/>
        </p:nvSpPr>
        <p:spPr>
          <a:xfrm>
            <a:off x="6807994" y="2827474"/>
            <a:ext cx="162163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illimité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crédits</a:t>
            </a:r>
            <a:endParaRPr lang="en-US" sz="800" dirty="0"/>
          </a:p>
        </p:txBody>
      </p:sp>
      <p:sp>
        <p:nvSpPr>
          <p:cNvPr id="79" name="Text 71"/>
          <p:cNvSpPr/>
          <p:nvPr/>
        </p:nvSpPr>
        <p:spPr>
          <a:xfrm>
            <a:off x="4797028" y="3156086"/>
            <a:ext cx="3736181" cy="317897"/>
          </a:xfrm>
          <a:prstGeom prst="roundRect">
            <a:avLst>
              <a:gd name="adj" fmla="val 35955"/>
            </a:avLst>
          </a:prstGeom>
          <a:solidFill>
            <a:srgbClr val="6366F1">
              <a:alpha val="6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2"/>
          <p:cNvSpPr/>
          <p:nvPr/>
        </p:nvSpPr>
        <p:spPr>
          <a:xfrm>
            <a:off x="4914900" y="32507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A5B4F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81" name="Text 73"/>
          <p:cNvSpPr/>
          <p:nvPr/>
        </p:nvSpPr>
        <p:spPr>
          <a:xfrm>
            <a:off x="5100638" y="3250741"/>
            <a:ext cx="1305444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E5E7E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plans · grille tarifaire FCFA</a:t>
            </a:r>
            <a:endParaRPr lang="en-US" sz="675" dirty="0"/>
          </a:p>
        </p:txBody>
      </p:sp>
      <p:sp>
        <p:nvSpPr>
          <p:cNvPr id="82" name="Text 74"/>
          <p:cNvSpPr/>
          <p:nvPr/>
        </p:nvSpPr>
        <p:spPr>
          <a:xfrm>
            <a:off x="7594588" y="3259671"/>
            <a:ext cx="464880" cy="125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28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GAMME</a:t>
            </a:r>
            <a:endParaRPr lang="en-US" sz="800" dirty="0"/>
          </a:p>
        </p:txBody>
      </p:sp>
      <p:sp>
        <p:nvSpPr>
          <p:cNvPr id="83" name="Text 75"/>
          <p:cNvSpPr/>
          <p:nvPr/>
        </p:nvSpPr>
        <p:spPr>
          <a:xfrm>
            <a:off x="7889104" y="3245383"/>
            <a:ext cx="550842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5K → 150K</a:t>
            </a:r>
            <a:endParaRPr lang="en-US" sz="731" dirty="0"/>
          </a:p>
        </p:txBody>
      </p:sp>
      <p:sp>
        <p:nvSpPr>
          <p:cNvPr id="84" name="Text 76"/>
          <p:cNvSpPr/>
          <p:nvPr/>
        </p:nvSpPr>
        <p:spPr>
          <a:xfrm>
            <a:off x="4793456" y="4488061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914" dirty="0"/>
          </a:p>
        </p:txBody>
      </p:sp>
      <p:sp>
        <p:nvSpPr>
          <p:cNvPr id="85" name="Text 77"/>
          <p:cNvSpPr/>
          <p:nvPr/>
        </p:nvSpPr>
        <p:spPr>
          <a:xfrm>
            <a:off x="4943475" y="4475559"/>
            <a:ext cx="3593306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Système de crédits by-passable admin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36211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· SPLIT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3802155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WhatsApp Agent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7793854" y="644415"/>
            <a:ext cx="915806" cy="212027"/>
          </a:xfrm>
          <a:prstGeom prst="roundRect">
            <a:avLst>
              <a:gd name="adj" fmla="val 8984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034170" y="698636"/>
            <a:ext cx="663773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MODULES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909582" y="7039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20105"/>
            <a:ext cx="4036219" cy="3875484"/>
          </a:xfrm>
          <a:prstGeom prst="roundRect">
            <a:avLst>
              <a:gd name="adj" fmla="val 3441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919" y="680777"/>
            <a:ext cx="914400" cy="9144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921919" y="680777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10791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0"/>
          <p:cNvSpPr/>
          <p:nvPr/>
        </p:nvSpPr>
        <p:spPr>
          <a:xfrm>
            <a:off x="646509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◌</a:t>
            </a:r>
            <a:endParaRPr lang="en-US" sz="1406" dirty="0"/>
          </a:p>
        </p:txBody>
      </p:sp>
      <p:sp>
        <p:nvSpPr>
          <p:cNvPr id="16" name="Text 11"/>
          <p:cNvSpPr/>
          <p:nvPr/>
        </p:nvSpPr>
        <p:spPr>
          <a:xfrm>
            <a:off x="978694" y="1170124"/>
            <a:ext cx="1674553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86EFA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WHATSAPP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978694" y="1287996"/>
            <a:ext cx="157088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WHATSAPP AGENT</a:t>
            </a:r>
            <a:endParaRPr lang="en-US" sz="1013" dirty="0"/>
          </a:p>
        </p:txBody>
      </p:sp>
      <p:sp>
        <p:nvSpPr>
          <p:cNvPr id="18" name="Text 13"/>
          <p:cNvSpPr/>
          <p:nvPr/>
        </p:nvSpPr>
        <p:spPr>
          <a:xfrm>
            <a:off x="610791" y="1570174"/>
            <a:ext cx="3736181" cy="482203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700088" y="167375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0" name="Text 15"/>
          <p:cNvSpPr/>
          <p:nvPr/>
        </p:nvSpPr>
        <p:spPr>
          <a:xfrm>
            <a:off x="907256" y="1695190"/>
            <a:ext cx="1476468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Webhook Twilio configuré</a:t>
            </a:r>
            <a:endParaRPr lang="en-US" sz="800" dirty="0"/>
          </a:p>
        </p:txBody>
      </p:sp>
      <p:sp>
        <p:nvSpPr>
          <p:cNvPr id="21" name="Text 16"/>
          <p:cNvSpPr/>
          <p:nvPr/>
        </p:nvSpPr>
        <p:spPr>
          <a:xfrm>
            <a:off x="907256" y="1845208"/>
            <a:ext cx="34601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Endpoint de réception SMS/WhatsApp prêt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610791" y="2130958"/>
            <a:ext cx="3736181" cy="482203"/>
          </a:xfrm>
          <a:prstGeom prst="roundRect">
            <a:avLst>
              <a:gd name="adj" fmla="val 2370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700088" y="223454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4" name="Text 19"/>
          <p:cNvSpPr/>
          <p:nvPr/>
        </p:nvSpPr>
        <p:spPr>
          <a:xfrm>
            <a:off x="907256" y="2255974"/>
            <a:ext cx="1202104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status publique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907256" y="2405993"/>
            <a:ext cx="33504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Route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/status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exposée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610791" y="2691743"/>
            <a:ext cx="3736181" cy="607219"/>
          </a:xfrm>
          <a:prstGeom prst="roundRect">
            <a:avLst>
              <a:gd name="adj" fmla="val 18824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700088" y="2789969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28" name="Text 23"/>
          <p:cNvSpPr/>
          <p:nvPr/>
        </p:nvSpPr>
        <p:spPr>
          <a:xfrm>
            <a:off x="878681" y="2781040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871538" y="2978979"/>
            <a:ext cx="535670" cy="243488"/>
          </a:xfrm>
          <a:prstGeom prst="roundRect">
            <a:avLst>
              <a:gd name="adj" fmla="val 312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5"/>
          <p:cNvSpPr/>
          <p:nvPr/>
        </p:nvSpPr>
        <p:spPr>
          <a:xfrm>
            <a:off x="871538" y="2991780"/>
            <a:ext cx="53567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WhatsApp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1450070" y="3025713"/>
            <a:ext cx="91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2" name="Text 27"/>
          <p:cNvSpPr/>
          <p:nvPr/>
        </p:nvSpPr>
        <p:spPr>
          <a:xfrm>
            <a:off x="1553208" y="2978979"/>
            <a:ext cx="441127" cy="243488"/>
          </a:xfrm>
          <a:prstGeom prst="roundRect">
            <a:avLst>
              <a:gd name="adj" fmla="val 312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28"/>
          <p:cNvSpPr/>
          <p:nvPr/>
        </p:nvSpPr>
        <p:spPr>
          <a:xfrm>
            <a:off x="1553208" y="2991780"/>
            <a:ext cx="44112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Twilio</a:t>
            </a:r>
            <a:endParaRPr lang="en-US" sz="800" dirty="0"/>
          </a:p>
        </p:txBody>
      </p:sp>
      <p:sp>
        <p:nvSpPr>
          <p:cNvPr id="34" name="Text 29"/>
          <p:cNvSpPr/>
          <p:nvPr/>
        </p:nvSpPr>
        <p:spPr>
          <a:xfrm>
            <a:off x="2037197" y="3025713"/>
            <a:ext cx="91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5" name="Text 30"/>
          <p:cNvSpPr/>
          <p:nvPr/>
        </p:nvSpPr>
        <p:spPr>
          <a:xfrm>
            <a:off x="2140334" y="2978979"/>
            <a:ext cx="251817" cy="243488"/>
          </a:xfrm>
          <a:prstGeom prst="roundRect">
            <a:avLst>
              <a:gd name="adj" fmla="val 312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2140334" y="2991780"/>
            <a:ext cx="251817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</a:t>
            </a:r>
            <a:endParaRPr lang="en-US" sz="800" dirty="0"/>
          </a:p>
        </p:txBody>
      </p:sp>
      <p:sp>
        <p:nvSpPr>
          <p:cNvPr id="37" name="Text 32"/>
          <p:cNvSpPr/>
          <p:nvPr/>
        </p:nvSpPr>
        <p:spPr>
          <a:xfrm>
            <a:off x="2435014" y="3025713"/>
            <a:ext cx="914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2538152" y="2978979"/>
            <a:ext cx="488342" cy="243488"/>
          </a:xfrm>
          <a:prstGeom prst="roundRect">
            <a:avLst>
              <a:gd name="adj" fmla="val 3129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4"/>
          <p:cNvSpPr/>
          <p:nvPr/>
        </p:nvSpPr>
        <p:spPr>
          <a:xfrm>
            <a:off x="2538152" y="2991780"/>
            <a:ext cx="48834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Réponse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610791" y="3377543"/>
            <a:ext cx="3736181" cy="478631"/>
          </a:xfrm>
          <a:prstGeom prst="roundRect">
            <a:avLst>
              <a:gd name="adj" fmla="val 23881"/>
            </a:avLst>
          </a:prstGeom>
          <a:solidFill>
            <a:srgbClr val="F59E0B">
              <a:alpha val="6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6"/>
          <p:cNvSpPr/>
          <p:nvPr/>
        </p:nvSpPr>
        <p:spPr>
          <a:xfrm>
            <a:off x="700088" y="34811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195" dirty="0"/>
          </a:p>
        </p:txBody>
      </p:sp>
      <p:sp>
        <p:nvSpPr>
          <p:cNvPr id="42" name="Text 37"/>
          <p:cNvSpPr/>
          <p:nvPr/>
        </p:nvSpPr>
        <p:spPr>
          <a:xfrm>
            <a:off x="907256" y="3477555"/>
            <a:ext cx="2738177" cy="173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Twilio: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CD34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enabled=False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3636861" y="3456767"/>
            <a:ext cx="643674" cy="188024"/>
          </a:xfrm>
          <a:prstGeom prst="roundRect">
            <a:avLst>
              <a:gd name="adj" fmla="val 101317"/>
            </a:avLst>
          </a:prstGeom>
          <a:solidFill>
            <a:srgbClr val="F59E0B">
              <a:alpha val="15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9"/>
          <p:cNvSpPr/>
          <p:nvPr/>
        </p:nvSpPr>
        <p:spPr>
          <a:xfrm>
            <a:off x="3637002" y="3466840"/>
            <a:ext cx="64339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À ACTIVER</a:t>
            </a:r>
            <a:endParaRPr lang="en-US" sz="800" dirty="0"/>
          </a:p>
        </p:txBody>
      </p:sp>
      <p:sp>
        <p:nvSpPr>
          <p:cNvPr id="45" name="Text 40"/>
          <p:cNvSpPr/>
          <p:nvPr/>
        </p:nvSpPr>
        <p:spPr>
          <a:xfrm>
            <a:off x="907256" y="3649005"/>
            <a:ext cx="34601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À activer avec compte Twilio</a:t>
            </a:r>
            <a:endParaRPr lang="en-US" sz="800" dirty="0"/>
          </a:p>
        </p:txBody>
      </p:sp>
      <p:sp>
        <p:nvSpPr>
          <p:cNvPr id="46" name="Text 41"/>
          <p:cNvSpPr/>
          <p:nvPr/>
        </p:nvSpPr>
        <p:spPr>
          <a:xfrm>
            <a:off x="610791" y="3934755"/>
            <a:ext cx="3736181" cy="478631"/>
          </a:xfrm>
          <a:prstGeom prst="roundRect">
            <a:avLst>
              <a:gd name="adj" fmla="val 23881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2"/>
          <p:cNvSpPr/>
          <p:nvPr/>
        </p:nvSpPr>
        <p:spPr>
          <a:xfrm>
            <a:off x="700088" y="4038340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48" name="Text 43"/>
          <p:cNvSpPr/>
          <p:nvPr/>
        </p:nvSpPr>
        <p:spPr>
          <a:xfrm>
            <a:off x="907256" y="4034768"/>
            <a:ext cx="2814414" cy="173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freeForAll=True</a:t>
            </a:r>
            <a:endParaRPr lang="en-US" sz="800" dirty="0"/>
          </a:p>
        </p:txBody>
      </p:sp>
      <p:sp>
        <p:nvSpPr>
          <p:cNvPr id="49" name="Text 44"/>
          <p:cNvSpPr/>
          <p:nvPr/>
        </p:nvSpPr>
        <p:spPr>
          <a:xfrm>
            <a:off x="3715089" y="4013979"/>
            <a:ext cx="563454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5"/>
          <p:cNvSpPr/>
          <p:nvPr/>
        </p:nvSpPr>
        <p:spPr>
          <a:xfrm>
            <a:off x="3718880" y="4024052"/>
            <a:ext cx="555874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GRATUIT</a:t>
            </a:r>
            <a:endParaRPr lang="en-US" sz="800" dirty="0"/>
          </a:p>
        </p:txBody>
      </p:sp>
      <p:sp>
        <p:nvSpPr>
          <p:cNvPr id="51" name="Text 46"/>
          <p:cNvSpPr/>
          <p:nvPr/>
        </p:nvSpPr>
        <p:spPr>
          <a:xfrm>
            <a:off x="907256" y="4206218"/>
            <a:ext cx="33504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Gratuit pour tous</a:t>
            </a:r>
            <a:endParaRPr lang="en-US" sz="800" dirty="0"/>
          </a:p>
        </p:txBody>
      </p:sp>
      <p:sp>
        <p:nvSpPr>
          <p:cNvPr id="52" name="Text 47"/>
          <p:cNvSpPr/>
          <p:nvPr/>
        </p:nvSpPr>
        <p:spPr>
          <a:xfrm>
            <a:off x="607219" y="464377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14" dirty="0"/>
          </a:p>
        </p:txBody>
      </p:sp>
      <p:sp>
        <p:nvSpPr>
          <p:cNvPr id="53" name="Text 48"/>
          <p:cNvSpPr/>
          <p:nvPr/>
        </p:nvSpPr>
        <p:spPr>
          <a:xfrm>
            <a:off x="757238" y="4631271"/>
            <a:ext cx="3593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Twilio webhook → IA → reply</a:t>
            </a:r>
            <a:endParaRPr lang="en-US" sz="800" dirty="0"/>
          </a:p>
        </p:txBody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3438" y="1016533"/>
            <a:ext cx="4043363" cy="3882628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4647009" y="1020105"/>
            <a:ext cx="4036219" cy="3875484"/>
          </a:xfrm>
          <a:prstGeom prst="roundRect">
            <a:avLst>
              <a:gd name="adj" fmla="val 3441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8156" y="680777"/>
            <a:ext cx="914400" cy="914400"/>
          </a:xfrm>
          <a:prstGeom prst="rect">
            <a:avLst/>
          </a:prstGeom>
        </p:spPr>
      </p:pic>
      <p:sp>
        <p:nvSpPr>
          <p:cNvPr id="57" name="Text 50"/>
          <p:cNvSpPr/>
          <p:nvPr/>
        </p:nvSpPr>
        <p:spPr>
          <a:xfrm>
            <a:off x="8108156" y="680777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1"/>
          <p:cNvSpPr/>
          <p:nvPr/>
        </p:nvSpPr>
        <p:spPr>
          <a:xfrm>
            <a:off x="4797028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2"/>
          <p:cNvSpPr/>
          <p:nvPr/>
        </p:nvSpPr>
        <p:spPr>
          <a:xfrm>
            <a:off x="4832747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60" name="Text 53"/>
          <p:cNvSpPr/>
          <p:nvPr/>
        </p:nvSpPr>
        <p:spPr>
          <a:xfrm>
            <a:off x="5164931" y="1170124"/>
            <a:ext cx="1523525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MODULE · ADMIN</a:t>
            </a:r>
            <a:endParaRPr lang="en-US" sz="800" dirty="0"/>
          </a:p>
        </p:txBody>
      </p:sp>
      <p:sp>
        <p:nvSpPr>
          <p:cNvPr id="61" name="Text 54"/>
          <p:cNvSpPr/>
          <p:nvPr/>
        </p:nvSpPr>
        <p:spPr>
          <a:xfrm>
            <a:off x="5164931" y="1287996"/>
            <a:ext cx="142920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PANNEAU ADMIN</a:t>
            </a:r>
            <a:endParaRPr lang="en-US" sz="1013" dirty="0"/>
          </a:p>
        </p:txBody>
      </p:sp>
      <p:sp>
        <p:nvSpPr>
          <p:cNvPr id="62" name="Text 55"/>
          <p:cNvSpPr/>
          <p:nvPr/>
        </p:nvSpPr>
        <p:spPr>
          <a:xfrm>
            <a:off x="4797028" y="1570174"/>
            <a:ext cx="3736181" cy="478631"/>
          </a:xfrm>
          <a:prstGeom prst="roundRect">
            <a:avLst>
              <a:gd name="adj" fmla="val 23881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6"/>
          <p:cNvSpPr/>
          <p:nvPr/>
        </p:nvSpPr>
        <p:spPr>
          <a:xfrm>
            <a:off x="4886325" y="167375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64" name="Text 57"/>
          <p:cNvSpPr/>
          <p:nvPr/>
        </p:nvSpPr>
        <p:spPr>
          <a:xfrm>
            <a:off x="5093494" y="1673758"/>
            <a:ext cx="303877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admin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8134660" y="1649398"/>
            <a:ext cx="3211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9"/>
          <p:cNvSpPr/>
          <p:nvPr/>
        </p:nvSpPr>
        <p:spPr>
          <a:xfrm>
            <a:off x="8146554" y="1659471"/>
            <a:ext cx="297359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OK</a:t>
            </a:r>
            <a:endParaRPr lang="en-US" sz="800" dirty="0"/>
          </a:p>
        </p:txBody>
      </p:sp>
      <p:sp>
        <p:nvSpPr>
          <p:cNvPr id="67" name="Text 60"/>
          <p:cNvSpPr/>
          <p:nvPr/>
        </p:nvSpPr>
        <p:spPr>
          <a:xfrm>
            <a:off x="5093494" y="1841636"/>
            <a:ext cx="33504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Identifiants ·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admin123</a:t>
            </a:r>
            <a:endParaRPr lang="en-US" sz="800" dirty="0"/>
          </a:p>
        </p:txBody>
      </p:sp>
      <p:sp>
        <p:nvSpPr>
          <p:cNvPr id="68" name="Text 61"/>
          <p:cNvSpPr/>
          <p:nvPr/>
        </p:nvSpPr>
        <p:spPr>
          <a:xfrm>
            <a:off x="4797028" y="2127386"/>
            <a:ext cx="3736181" cy="450056"/>
          </a:xfrm>
          <a:prstGeom prst="roundRect">
            <a:avLst>
              <a:gd name="adj" fmla="val 2539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2"/>
          <p:cNvSpPr/>
          <p:nvPr/>
        </p:nvSpPr>
        <p:spPr>
          <a:xfrm>
            <a:off x="4886325" y="2230971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70" name="Text 63"/>
          <p:cNvSpPr/>
          <p:nvPr/>
        </p:nvSpPr>
        <p:spPr>
          <a:xfrm>
            <a:off x="5093494" y="2216683"/>
            <a:ext cx="29759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pages admin accessibles</a:t>
            </a:r>
            <a:endParaRPr lang="en-US" sz="800" dirty="0"/>
          </a:p>
        </p:txBody>
      </p:sp>
      <p:sp>
        <p:nvSpPr>
          <p:cNvPr id="71" name="Text 64"/>
          <p:cNvSpPr/>
          <p:nvPr/>
        </p:nvSpPr>
        <p:spPr>
          <a:xfrm>
            <a:off x="8072294" y="2222041"/>
            <a:ext cx="3830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14</a:t>
            </a:r>
            <a:endParaRPr lang="en-US" sz="675" dirty="0"/>
          </a:p>
        </p:txBody>
      </p:sp>
      <p:sp>
        <p:nvSpPr>
          <p:cNvPr id="72" name="Text 65"/>
          <p:cNvSpPr/>
          <p:nvPr/>
        </p:nvSpPr>
        <p:spPr>
          <a:xfrm>
            <a:off x="5093494" y="2370274"/>
            <a:ext cx="34601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Dashboard complet opérationnel</a:t>
            </a:r>
            <a:endParaRPr lang="en-US" sz="800" dirty="0"/>
          </a:p>
        </p:txBody>
      </p:sp>
      <p:sp>
        <p:nvSpPr>
          <p:cNvPr id="73" name="Text 66"/>
          <p:cNvSpPr/>
          <p:nvPr/>
        </p:nvSpPr>
        <p:spPr>
          <a:xfrm>
            <a:off x="4797028" y="2656024"/>
            <a:ext cx="3736181" cy="478631"/>
          </a:xfrm>
          <a:prstGeom prst="roundRect">
            <a:avLst>
              <a:gd name="adj" fmla="val 23881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7"/>
          <p:cNvSpPr/>
          <p:nvPr/>
        </p:nvSpPr>
        <p:spPr>
          <a:xfrm>
            <a:off x="4886325" y="2759608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75" name="Text 68"/>
          <p:cNvSpPr/>
          <p:nvPr/>
        </p:nvSpPr>
        <p:spPr>
          <a:xfrm>
            <a:off x="5093494" y="2759608"/>
            <a:ext cx="26214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 OpenRouter active</a:t>
            </a:r>
            <a:endParaRPr lang="en-US" sz="800" dirty="0"/>
          </a:p>
        </p:txBody>
      </p:sp>
      <p:sp>
        <p:nvSpPr>
          <p:cNvPr id="76" name="Text 69"/>
          <p:cNvSpPr/>
          <p:nvPr/>
        </p:nvSpPr>
        <p:spPr>
          <a:xfrm>
            <a:off x="7706343" y="2735248"/>
            <a:ext cx="760430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0"/>
          <p:cNvSpPr/>
          <p:nvPr/>
        </p:nvSpPr>
        <p:spPr>
          <a:xfrm>
            <a:off x="7697125" y="2745321"/>
            <a:ext cx="77886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</a:t>
            </a:r>
            <a:endParaRPr lang="en-US" sz="800" dirty="0"/>
          </a:p>
        </p:txBody>
      </p:sp>
      <p:sp>
        <p:nvSpPr>
          <p:cNvPr id="78" name="Text 71"/>
          <p:cNvSpPr/>
          <p:nvPr/>
        </p:nvSpPr>
        <p:spPr>
          <a:xfrm>
            <a:off x="5093494" y="2927486"/>
            <a:ext cx="3460147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Clé API intégrée au panneau</a:t>
            </a:r>
            <a:endParaRPr lang="en-US" sz="800" dirty="0"/>
          </a:p>
        </p:txBody>
      </p:sp>
      <p:sp>
        <p:nvSpPr>
          <p:cNvPr id="79" name="Text 72"/>
          <p:cNvSpPr/>
          <p:nvPr/>
        </p:nvSpPr>
        <p:spPr>
          <a:xfrm>
            <a:off x="4797028" y="3213236"/>
            <a:ext cx="3736181" cy="771525"/>
          </a:xfrm>
          <a:prstGeom prst="roundRect">
            <a:avLst>
              <a:gd name="adj" fmla="val 1481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3"/>
          <p:cNvSpPr/>
          <p:nvPr/>
        </p:nvSpPr>
        <p:spPr>
          <a:xfrm>
            <a:off x="4886325" y="3311463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81" name="Text 74"/>
          <p:cNvSpPr/>
          <p:nvPr/>
        </p:nvSpPr>
        <p:spPr>
          <a:xfrm>
            <a:off x="5064919" y="3302533"/>
            <a:ext cx="33789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Métriques</a:t>
            </a:r>
            <a:endParaRPr lang="en-US" sz="800" dirty="0"/>
          </a:p>
        </p:txBody>
      </p:sp>
      <p:sp>
        <p:nvSpPr>
          <p:cNvPr id="82" name="Text 75"/>
          <p:cNvSpPr/>
          <p:nvPr/>
        </p:nvSpPr>
        <p:spPr>
          <a:xfrm>
            <a:off x="5061347" y="3516846"/>
            <a:ext cx="1083394" cy="375047"/>
          </a:xfrm>
          <a:prstGeom prst="roundRect">
            <a:avLst>
              <a:gd name="adj" fmla="val 2031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76"/>
          <p:cNvSpPr/>
          <p:nvPr/>
        </p:nvSpPr>
        <p:spPr>
          <a:xfrm>
            <a:off x="5568665" y="3563280"/>
            <a:ext cx="109835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Text 77"/>
          <p:cNvSpPr/>
          <p:nvPr/>
        </p:nvSpPr>
        <p:spPr>
          <a:xfrm>
            <a:off x="5468397" y="3749018"/>
            <a:ext cx="4072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</a:t>
            </a:r>
            <a:endParaRPr lang="en-US" sz="800" dirty="0"/>
          </a:p>
        </p:txBody>
      </p:sp>
      <p:sp>
        <p:nvSpPr>
          <p:cNvPr id="85" name="Text 78"/>
          <p:cNvSpPr/>
          <p:nvPr/>
        </p:nvSpPr>
        <p:spPr>
          <a:xfrm>
            <a:off x="6209035" y="3516846"/>
            <a:ext cx="1083506" cy="375047"/>
          </a:xfrm>
          <a:prstGeom prst="roundRect">
            <a:avLst>
              <a:gd name="adj" fmla="val 2031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79"/>
          <p:cNvSpPr/>
          <p:nvPr/>
        </p:nvSpPr>
        <p:spPr>
          <a:xfrm>
            <a:off x="6525704" y="3563280"/>
            <a:ext cx="612228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10 000$</a:t>
            </a:r>
            <a:endParaRPr lang="en-US" sz="844" dirty="0"/>
          </a:p>
        </p:txBody>
      </p:sp>
      <p:sp>
        <p:nvSpPr>
          <p:cNvPr id="87" name="Text 80"/>
          <p:cNvSpPr/>
          <p:nvPr/>
        </p:nvSpPr>
        <p:spPr>
          <a:xfrm>
            <a:off x="6667801" y="3738302"/>
            <a:ext cx="25855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</a:t>
            </a:r>
            <a:endParaRPr lang="en-US" sz="800" dirty="0"/>
          </a:p>
        </p:txBody>
      </p:sp>
      <p:sp>
        <p:nvSpPr>
          <p:cNvPr id="88" name="Text 81"/>
          <p:cNvSpPr/>
          <p:nvPr/>
        </p:nvSpPr>
        <p:spPr>
          <a:xfrm>
            <a:off x="7356835" y="3516846"/>
            <a:ext cx="1083506" cy="375047"/>
          </a:xfrm>
          <a:prstGeom prst="roundRect">
            <a:avLst>
              <a:gd name="adj" fmla="val 2031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2"/>
          <p:cNvSpPr/>
          <p:nvPr/>
        </p:nvSpPr>
        <p:spPr>
          <a:xfrm>
            <a:off x="7761350" y="3563280"/>
            <a:ext cx="438983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4AD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900" dirty="0"/>
          </a:p>
        </p:txBody>
      </p:sp>
      <p:sp>
        <p:nvSpPr>
          <p:cNvPr id="90" name="Text 83"/>
          <p:cNvSpPr/>
          <p:nvPr/>
        </p:nvSpPr>
        <p:spPr>
          <a:xfrm>
            <a:off x="7770136" y="3749018"/>
            <a:ext cx="407213" cy="96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25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MARGE</a:t>
            </a:r>
            <a:endParaRPr lang="en-US" sz="800" dirty="0"/>
          </a:p>
        </p:txBody>
      </p:sp>
      <p:sp>
        <p:nvSpPr>
          <p:cNvPr id="91" name="Text 84"/>
          <p:cNvSpPr/>
          <p:nvPr/>
        </p:nvSpPr>
        <p:spPr>
          <a:xfrm>
            <a:off x="4797028" y="4063343"/>
            <a:ext cx="3736181" cy="478631"/>
          </a:xfrm>
          <a:prstGeom prst="roundRect">
            <a:avLst>
              <a:gd name="adj" fmla="val 23881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4886325" y="4166927"/>
            <a:ext cx="121444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95" dirty="0"/>
          </a:p>
        </p:txBody>
      </p:sp>
      <p:sp>
        <p:nvSpPr>
          <p:cNvPr id="93" name="Text 86"/>
          <p:cNvSpPr/>
          <p:nvPr/>
        </p:nvSpPr>
        <p:spPr>
          <a:xfrm>
            <a:off x="5093494" y="4166927"/>
            <a:ext cx="256750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Système de crédits</a:t>
            </a:r>
            <a:endParaRPr lang="en-US" sz="800" dirty="0"/>
          </a:p>
        </p:txBody>
      </p:sp>
      <p:sp>
        <p:nvSpPr>
          <p:cNvPr id="94" name="Text 87"/>
          <p:cNvSpPr/>
          <p:nvPr/>
        </p:nvSpPr>
        <p:spPr>
          <a:xfrm>
            <a:off x="7652430" y="4142567"/>
            <a:ext cx="814343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88"/>
          <p:cNvSpPr/>
          <p:nvPr/>
        </p:nvSpPr>
        <p:spPr>
          <a:xfrm>
            <a:off x="7616219" y="4152640"/>
            <a:ext cx="886765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BYPASS ADMIN</a:t>
            </a:r>
            <a:endParaRPr lang="en-US" sz="800" dirty="0"/>
          </a:p>
        </p:txBody>
      </p:sp>
      <p:sp>
        <p:nvSpPr>
          <p:cNvPr id="96" name="Text 89"/>
          <p:cNvSpPr/>
          <p:nvPr/>
        </p:nvSpPr>
        <p:spPr>
          <a:xfrm>
            <a:off x="5093494" y="4334805"/>
            <a:ext cx="3350419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Avec bypass admin</a:t>
            </a:r>
            <a:endParaRPr lang="en-US" sz="800" dirty="0"/>
          </a:p>
        </p:txBody>
      </p:sp>
      <p:sp>
        <p:nvSpPr>
          <p:cNvPr id="97" name="Text 90"/>
          <p:cNvSpPr/>
          <p:nvPr/>
        </p:nvSpPr>
        <p:spPr>
          <a:xfrm>
            <a:off x="4793456" y="4643772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914" dirty="0"/>
          </a:p>
        </p:txBody>
      </p:sp>
      <p:sp>
        <p:nvSpPr>
          <p:cNvPr id="98" name="Text 91"/>
          <p:cNvSpPr/>
          <p:nvPr/>
        </p:nvSpPr>
        <p:spPr>
          <a:xfrm>
            <a:off x="4943475" y="4631271"/>
            <a:ext cx="3593306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routes admin protégées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331659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· METRICS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3482427" cy="291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Métriques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&amp;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pPr algn="l" indent="0" marL="0">
              <a:lnSpc>
                <a:spcPts val="2126"/>
              </a:lnSpc>
              <a:buNone/>
            </a:pPr>
            <a:r>
              <a:rPr lang="en-US" sz="2025" b="1" spc="-51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Rentabilité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7861942" y="644415"/>
            <a:ext cx="847718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8084999" y="698636"/>
            <a:ext cx="630204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RENTABLE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7977671" y="703994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914" dirty="0"/>
          </a:p>
        </p:txBody>
      </p:sp>
      <p:sp>
        <p:nvSpPr>
          <p:cNvPr id="11" name="Text 7"/>
          <p:cNvSpPr/>
          <p:nvPr/>
        </p:nvSpPr>
        <p:spPr>
          <a:xfrm>
            <a:off x="460772" y="1020105"/>
            <a:ext cx="1985963" cy="1282303"/>
          </a:xfrm>
          <a:prstGeom prst="roundRect">
            <a:avLst>
              <a:gd name="adj" fmla="val 10399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4" y="1023677"/>
            <a:ext cx="1978819" cy="2857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10791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646509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lang="en-US" sz="1406" dirty="0"/>
          </a:p>
        </p:txBody>
      </p:sp>
      <p:sp>
        <p:nvSpPr>
          <p:cNvPr id="15" name="Text 10"/>
          <p:cNvSpPr/>
          <p:nvPr/>
        </p:nvSpPr>
        <p:spPr>
          <a:xfrm>
            <a:off x="1840703" y="1156479"/>
            <a:ext cx="477261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1858380" y="1166552"/>
            <a:ext cx="441908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USERS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607219" y="1566602"/>
            <a:ext cx="169306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2363" dirty="0"/>
          </a:p>
        </p:txBody>
      </p:sp>
      <p:sp>
        <p:nvSpPr>
          <p:cNvPr id="18" name="Text 13"/>
          <p:cNvSpPr/>
          <p:nvPr/>
        </p:nvSpPr>
        <p:spPr>
          <a:xfrm>
            <a:off x="607219" y="1895215"/>
            <a:ext cx="1693069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Utilisateurs inscrits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607219" y="2043447"/>
            <a:ext cx="16930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Base installée actuelle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2539603" y="1020105"/>
            <a:ext cx="1985963" cy="1282303"/>
          </a:xfrm>
          <a:prstGeom prst="roundRect">
            <a:avLst>
              <a:gd name="adj" fmla="val 10399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175" y="1023677"/>
            <a:ext cx="1978819" cy="285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89622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2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2725341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$</a:t>
            </a:r>
            <a:endParaRPr lang="en-US" sz="1406" dirty="0"/>
          </a:p>
        </p:txBody>
      </p:sp>
      <p:sp>
        <p:nvSpPr>
          <p:cNvPr id="24" name="Text 18"/>
          <p:cNvSpPr/>
          <p:nvPr/>
        </p:nvSpPr>
        <p:spPr>
          <a:xfrm>
            <a:off x="4005206" y="1156479"/>
            <a:ext cx="388294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9"/>
          <p:cNvSpPr/>
          <p:nvPr/>
        </p:nvSpPr>
        <p:spPr>
          <a:xfrm>
            <a:off x="4019587" y="1166552"/>
            <a:ext cx="35953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2686050" y="1566602"/>
            <a:ext cx="169306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10 000$</a:t>
            </a:r>
            <a:endParaRPr lang="en-US" sz="2363" dirty="0"/>
          </a:p>
        </p:txBody>
      </p:sp>
      <p:sp>
        <p:nvSpPr>
          <p:cNvPr id="27" name="Text 21"/>
          <p:cNvSpPr/>
          <p:nvPr/>
        </p:nvSpPr>
        <p:spPr>
          <a:xfrm>
            <a:off x="2686050" y="1895215"/>
            <a:ext cx="1693069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 projeté</a:t>
            </a:r>
            <a:endParaRPr lang="en-US" sz="800" dirty="0"/>
          </a:p>
        </p:txBody>
      </p:sp>
      <p:sp>
        <p:nvSpPr>
          <p:cNvPr id="28" name="Text 22"/>
          <p:cNvSpPr/>
          <p:nvPr/>
        </p:nvSpPr>
        <p:spPr>
          <a:xfrm>
            <a:off x="2686050" y="2043447"/>
            <a:ext cx="16930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Revenu mensuel récurrent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618434" y="1020105"/>
            <a:ext cx="1985963" cy="1282303"/>
          </a:xfrm>
          <a:prstGeom prst="roundRect">
            <a:avLst>
              <a:gd name="adj" fmla="val 10399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2006" y="1023677"/>
            <a:ext cx="1978819" cy="2857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768453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F59E0B">
              <a:alpha val="12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5"/>
          <p:cNvSpPr/>
          <p:nvPr/>
        </p:nvSpPr>
        <p:spPr>
          <a:xfrm>
            <a:off x="4804172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33" name="Text 26"/>
          <p:cNvSpPr/>
          <p:nvPr/>
        </p:nvSpPr>
        <p:spPr>
          <a:xfrm>
            <a:off x="5933009" y="1156479"/>
            <a:ext cx="545131" cy="188024"/>
          </a:xfrm>
          <a:prstGeom prst="roundRect">
            <a:avLst>
              <a:gd name="adj" fmla="val 101317"/>
            </a:avLst>
          </a:prstGeom>
          <a:solidFill>
            <a:srgbClr val="F59E0B">
              <a:alpha val="15000"/>
            </a:srgbClr>
          </a:solidFill>
          <a:ln w="7144">
            <a:solidFill>
              <a:srgbClr val="F59E0B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5953199" y="1166552"/>
            <a:ext cx="504751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COÛT IA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764881" y="1566602"/>
            <a:ext cx="169306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0.1$</a:t>
            </a:r>
            <a:endParaRPr lang="en-US" sz="2363" dirty="0"/>
          </a:p>
        </p:txBody>
      </p:sp>
      <p:sp>
        <p:nvSpPr>
          <p:cNvPr id="36" name="Text 29"/>
          <p:cNvSpPr/>
          <p:nvPr/>
        </p:nvSpPr>
        <p:spPr>
          <a:xfrm>
            <a:off x="4764881" y="1895215"/>
            <a:ext cx="1693069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Coût IA/mois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4764881" y="2043447"/>
            <a:ext cx="16930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Modèle free OpenRouter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6697266" y="1020105"/>
            <a:ext cx="1985963" cy="1282303"/>
          </a:xfrm>
          <a:prstGeom prst="roundRect">
            <a:avLst>
              <a:gd name="adj" fmla="val 10399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0838" y="1023677"/>
            <a:ext cx="1978819" cy="28575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847284" y="1170124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22C55E">
              <a:alpha val="12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3"/>
          <p:cNvSpPr/>
          <p:nvPr/>
        </p:nvSpPr>
        <p:spPr>
          <a:xfrm>
            <a:off x="6883003" y="1205843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◫</a:t>
            </a:r>
            <a:endParaRPr lang="en-US" sz="1406" dirty="0"/>
          </a:p>
        </p:txBody>
      </p:sp>
      <p:sp>
        <p:nvSpPr>
          <p:cNvPr id="42" name="Text 34"/>
          <p:cNvSpPr/>
          <p:nvPr/>
        </p:nvSpPr>
        <p:spPr>
          <a:xfrm>
            <a:off x="8054676" y="1156479"/>
            <a:ext cx="500647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8073219" y="1166552"/>
            <a:ext cx="463562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MARGE</a:t>
            </a:r>
            <a:endParaRPr lang="en-US" sz="800" dirty="0"/>
          </a:p>
        </p:txBody>
      </p:sp>
      <p:sp>
        <p:nvSpPr>
          <p:cNvPr id="44" name="Text 36"/>
          <p:cNvSpPr/>
          <p:nvPr/>
        </p:nvSpPr>
        <p:spPr>
          <a:xfrm>
            <a:off x="6843713" y="1566602"/>
            <a:ext cx="1693069" cy="3011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6366F1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363" dirty="0"/>
          </a:p>
        </p:txBody>
      </p:sp>
      <p:sp>
        <p:nvSpPr>
          <p:cNvPr id="45" name="Text 37"/>
          <p:cNvSpPr/>
          <p:nvPr/>
        </p:nvSpPr>
        <p:spPr>
          <a:xfrm>
            <a:off x="6843713" y="1895215"/>
            <a:ext cx="1693069" cy="120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Marge brute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6843713" y="2043447"/>
            <a:ext cx="169306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Coût IA négligeable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460772" y="2423852"/>
            <a:ext cx="8222456" cy="1067991"/>
          </a:xfrm>
          <a:prstGeom prst="roundRect">
            <a:avLst>
              <a:gd name="adj" fmla="val 12486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0"/>
          <p:cNvSpPr/>
          <p:nvPr/>
        </p:nvSpPr>
        <p:spPr>
          <a:xfrm>
            <a:off x="607219" y="2572085"/>
            <a:ext cx="1143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125" dirty="0"/>
          </a:p>
        </p:txBody>
      </p:sp>
      <p:sp>
        <p:nvSpPr>
          <p:cNvPr id="49" name="Text 41"/>
          <p:cNvSpPr/>
          <p:nvPr/>
        </p:nvSpPr>
        <p:spPr>
          <a:xfrm>
            <a:off x="778669" y="2570299"/>
            <a:ext cx="196075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62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RÉPARTITION UTILISATEURS PAR PLAN</a:t>
            </a:r>
            <a:endParaRPr lang="en-US" sz="619" dirty="0"/>
          </a:p>
        </p:txBody>
      </p:sp>
      <p:sp>
        <p:nvSpPr>
          <p:cNvPr id="50" name="Text 42"/>
          <p:cNvSpPr/>
          <p:nvPr/>
        </p:nvSpPr>
        <p:spPr>
          <a:xfrm>
            <a:off x="7957952" y="2575657"/>
            <a:ext cx="60033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users total</a:t>
            </a:r>
            <a:endParaRPr lang="en-US" sz="600" dirty="0"/>
          </a:p>
        </p:txBody>
      </p:sp>
      <p:pic>
        <p:nvPicPr>
          <p:cNvPr id="5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2773896"/>
            <a:ext cx="1918097" cy="57150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10791" y="2777468"/>
            <a:ext cx="1910953" cy="564356"/>
          </a:xfrm>
          <a:prstGeom prst="roundRect">
            <a:avLst>
              <a:gd name="adj" fmla="val 16878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44"/>
          <p:cNvSpPr/>
          <p:nvPr/>
        </p:nvSpPr>
        <p:spPr>
          <a:xfrm>
            <a:off x="671513" y="2852477"/>
            <a:ext cx="178950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STARTER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671513" y="2973921"/>
            <a:ext cx="178950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</a:t>
            </a:r>
            <a:pPr algn="ctr" indent="0" marL="0">
              <a:lnSpc>
                <a:spcPts val="1575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users</a:t>
            </a:r>
            <a:endParaRPr lang="en-US" sz="1013" dirty="0"/>
          </a:p>
        </p:txBody>
      </p:sp>
      <p:sp>
        <p:nvSpPr>
          <p:cNvPr id="55" name="Text 46"/>
          <p:cNvSpPr/>
          <p:nvPr/>
        </p:nvSpPr>
        <p:spPr>
          <a:xfrm>
            <a:off x="671513" y="3238240"/>
            <a:ext cx="1789509" cy="28575"/>
          </a:xfrm>
          <a:prstGeom prst="roundRect">
            <a:avLst>
              <a:gd name="adj" fmla="val 66667"/>
            </a:avLst>
          </a:prstGeom>
          <a:solidFill>
            <a:srgbClr val="6366F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513" y="3238240"/>
            <a:ext cx="1789509" cy="28575"/>
          </a:xfrm>
          <a:prstGeom prst="rect">
            <a:avLst/>
          </a:prstGeom>
        </p:spPr>
      </p:pic>
      <p:sp>
        <p:nvSpPr>
          <p:cNvPr id="57" name="Text 47"/>
          <p:cNvSpPr/>
          <p:nvPr/>
        </p:nvSpPr>
        <p:spPr>
          <a:xfrm>
            <a:off x="2614613" y="2777468"/>
            <a:ext cx="1910953" cy="564356"/>
          </a:xfrm>
          <a:prstGeom prst="roundRect">
            <a:avLst>
              <a:gd name="adj" fmla="val 1687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48"/>
          <p:cNvSpPr/>
          <p:nvPr/>
        </p:nvSpPr>
        <p:spPr>
          <a:xfrm>
            <a:off x="2675334" y="2852477"/>
            <a:ext cx="178950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</a:t>
            </a:r>
            <a:endParaRPr lang="en-US" sz="800" dirty="0"/>
          </a:p>
        </p:txBody>
      </p:sp>
      <p:sp>
        <p:nvSpPr>
          <p:cNvPr id="59" name="Text 49"/>
          <p:cNvSpPr/>
          <p:nvPr/>
        </p:nvSpPr>
        <p:spPr>
          <a:xfrm>
            <a:off x="2675334" y="2973921"/>
            <a:ext cx="178950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b="1" dirty="0">
                <a:solidFill>
                  <a:srgbClr val="D1D5D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</a:t>
            </a:r>
            <a:pPr algn="ctr" indent="0" marL="0">
              <a:lnSpc>
                <a:spcPts val="1575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users</a:t>
            </a:r>
            <a:endParaRPr lang="en-US" sz="1013" dirty="0"/>
          </a:p>
        </p:txBody>
      </p:sp>
      <p:sp>
        <p:nvSpPr>
          <p:cNvPr id="60" name="Text 50"/>
          <p:cNvSpPr/>
          <p:nvPr/>
        </p:nvSpPr>
        <p:spPr>
          <a:xfrm>
            <a:off x="2675334" y="3238240"/>
            <a:ext cx="1789509" cy="28575"/>
          </a:xfrm>
          <a:prstGeom prst="roundRect">
            <a:avLst>
              <a:gd name="adj" fmla="val 66667"/>
            </a:avLst>
          </a:prstGeom>
          <a:solidFill>
            <a:srgbClr val="6366F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1"/>
          <p:cNvSpPr/>
          <p:nvPr/>
        </p:nvSpPr>
        <p:spPr>
          <a:xfrm>
            <a:off x="4618434" y="2777468"/>
            <a:ext cx="1910953" cy="564356"/>
          </a:xfrm>
          <a:prstGeom prst="roundRect">
            <a:avLst>
              <a:gd name="adj" fmla="val 1687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2"/>
          <p:cNvSpPr/>
          <p:nvPr/>
        </p:nvSpPr>
        <p:spPr>
          <a:xfrm>
            <a:off x="4679156" y="2852477"/>
            <a:ext cx="178950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BUSINESS</a:t>
            </a:r>
            <a:endParaRPr lang="en-US" sz="800" dirty="0"/>
          </a:p>
        </p:txBody>
      </p:sp>
      <p:sp>
        <p:nvSpPr>
          <p:cNvPr id="63" name="Text 53"/>
          <p:cNvSpPr/>
          <p:nvPr/>
        </p:nvSpPr>
        <p:spPr>
          <a:xfrm>
            <a:off x="4679156" y="2973921"/>
            <a:ext cx="178950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b="1" dirty="0">
                <a:solidFill>
                  <a:srgbClr val="D1D5D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</a:t>
            </a:r>
            <a:pPr algn="ctr" indent="0" marL="0">
              <a:lnSpc>
                <a:spcPts val="1575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users</a:t>
            </a:r>
            <a:endParaRPr lang="en-US" sz="1013" dirty="0"/>
          </a:p>
        </p:txBody>
      </p:sp>
      <p:sp>
        <p:nvSpPr>
          <p:cNvPr id="64" name="Text 54"/>
          <p:cNvSpPr/>
          <p:nvPr/>
        </p:nvSpPr>
        <p:spPr>
          <a:xfrm>
            <a:off x="4679156" y="3238240"/>
            <a:ext cx="1789509" cy="28575"/>
          </a:xfrm>
          <a:prstGeom prst="roundRect">
            <a:avLst>
              <a:gd name="adj" fmla="val 66667"/>
            </a:avLst>
          </a:prstGeom>
          <a:solidFill>
            <a:srgbClr val="6366F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5"/>
          <p:cNvSpPr/>
          <p:nvPr/>
        </p:nvSpPr>
        <p:spPr>
          <a:xfrm>
            <a:off x="6622256" y="2777468"/>
            <a:ext cx="1910953" cy="564356"/>
          </a:xfrm>
          <a:prstGeom prst="roundRect">
            <a:avLst>
              <a:gd name="adj" fmla="val 16878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Text 56"/>
          <p:cNvSpPr/>
          <p:nvPr/>
        </p:nvSpPr>
        <p:spPr>
          <a:xfrm>
            <a:off x="6682978" y="2852477"/>
            <a:ext cx="1789509" cy="9401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ENTERPRISE</a:t>
            </a:r>
            <a:endParaRPr lang="en-US" sz="800" dirty="0"/>
          </a:p>
        </p:txBody>
      </p:sp>
      <p:sp>
        <p:nvSpPr>
          <p:cNvPr id="67" name="Text 57"/>
          <p:cNvSpPr/>
          <p:nvPr/>
        </p:nvSpPr>
        <p:spPr>
          <a:xfrm>
            <a:off x="6682978" y="2973921"/>
            <a:ext cx="1789509" cy="239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013" b="1" dirty="0">
                <a:solidFill>
                  <a:srgbClr val="D1D5D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</a:t>
            </a:r>
            <a:pPr algn="ctr" indent="0" marL="0">
              <a:lnSpc>
                <a:spcPts val="1575"/>
              </a:lnSpc>
              <a:buNone/>
            </a:pPr>
            <a:r>
              <a:rPr lang="en-US" sz="800" b="1" dirty="0">
                <a:solidFill>
                  <a:srgbClr val="6B72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users</a:t>
            </a:r>
            <a:endParaRPr lang="en-US" sz="1013" dirty="0"/>
          </a:p>
        </p:txBody>
      </p:sp>
      <p:sp>
        <p:nvSpPr>
          <p:cNvPr id="68" name="Text 58"/>
          <p:cNvSpPr/>
          <p:nvPr/>
        </p:nvSpPr>
        <p:spPr>
          <a:xfrm>
            <a:off x="6682978" y="3238240"/>
            <a:ext cx="1789509" cy="28575"/>
          </a:xfrm>
          <a:prstGeom prst="roundRect">
            <a:avLst>
              <a:gd name="adj" fmla="val 66667"/>
            </a:avLst>
          </a:prstGeom>
          <a:solidFill>
            <a:srgbClr val="6366F1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114800"/>
            <a:ext cx="8229600" cy="628650"/>
          </a:xfrm>
          <a:prstGeom prst="rect">
            <a:avLst/>
          </a:prstGeom>
        </p:spPr>
      </p:pic>
      <p:sp>
        <p:nvSpPr>
          <p:cNvPr id="70" name="Text 59"/>
          <p:cNvSpPr/>
          <p:nvPr/>
        </p:nvSpPr>
        <p:spPr>
          <a:xfrm>
            <a:off x="460772" y="4118372"/>
            <a:ext cx="8222456" cy="621506"/>
          </a:xfrm>
          <a:prstGeom prst="roundRect">
            <a:avLst>
              <a:gd name="adj" fmla="val 21456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0"/>
          <p:cNvSpPr/>
          <p:nvPr/>
        </p:nvSpPr>
        <p:spPr>
          <a:xfrm>
            <a:off x="607219" y="4286250"/>
            <a:ext cx="285750" cy="285750"/>
          </a:xfrm>
          <a:prstGeom prst="roundRect">
            <a:avLst>
              <a:gd name="adj" fmla="val 33330000"/>
            </a:avLst>
          </a:prstGeom>
          <a:solidFill>
            <a:srgbClr val="8B5CF6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1"/>
          <p:cNvSpPr/>
          <p:nvPr/>
        </p:nvSpPr>
        <p:spPr>
          <a:xfrm>
            <a:off x="646509" y="4325541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C4B5F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406" dirty="0"/>
          </a:p>
        </p:txBody>
      </p:sp>
      <p:sp>
        <p:nvSpPr>
          <p:cNvPr id="73" name="Text 62"/>
          <p:cNvSpPr/>
          <p:nvPr/>
        </p:nvSpPr>
        <p:spPr>
          <a:xfrm>
            <a:off x="1007269" y="4264819"/>
            <a:ext cx="7529513" cy="108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PROJECTION · 100 UTILISATEURS (60 STARTER + 25 PRO + 10 BUSINESS + 5 ENTERPRISE)</a:t>
            </a:r>
            <a:endParaRPr lang="en-US" sz="800" dirty="0"/>
          </a:p>
        </p:txBody>
      </p:sp>
      <p:sp>
        <p:nvSpPr>
          <p:cNvPr id="74" name="Text 63"/>
          <p:cNvSpPr/>
          <p:nvPr/>
        </p:nvSpPr>
        <p:spPr>
          <a:xfrm>
            <a:off x="1007269" y="4450556"/>
            <a:ext cx="30218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MRR</a:t>
            </a:r>
            <a:endParaRPr lang="en-US" sz="800" dirty="0"/>
          </a:p>
        </p:txBody>
      </p:sp>
      <p:sp>
        <p:nvSpPr>
          <p:cNvPr id="75" name="Text 64"/>
          <p:cNvSpPr/>
          <p:nvPr/>
        </p:nvSpPr>
        <p:spPr>
          <a:xfrm>
            <a:off x="1238994" y="4400550"/>
            <a:ext cx="62968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67E8F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3 041$</a:t>
            </a:r>
            <a:endParaRPr lang="en-US" sz="1013" dirty="0"/>
          </a:p>
        </p:txBody>
      </p:sp>
      <p:sp>
        <p:nvSpPr>
          <p:cNvPr id="76" name="Text 65"/>
          <p:cNvSpPr/>
          <p:nvPr/>
        </p:nvSpPr>
        <p:spPr>
          <a:xfrm>
            <a:off x="1816298" y="4411266"/>
            <a:ext cx="956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77" name="Text 66"/>
          <p:cNvSpPr/>
          <p:nvPr/>
        </p:nvSpPr>
        <p:spPr>
          <a:xfrm>
            <a:off x="1969108" y="4450556"/>
            <a:ext cx="49024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1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MARGE</a:t>
            </a:r>
            <a:endParaRPr lang="en-US" sz="800" dirty="0"/>
          </a:p>
        </p:txBody>
      </p:sp>
      <p:sp>
        <p:nvSpPr>
          <p:cNvPr id="78" name="Text 67"/>
          <p:cNvSpPr/>
          <p:nvPr/>
        </p:nvSpPr>
        <p:spPr>
          <a:xfrm>
            <a:off x="2318370" y="4400550"/>
            <a:ext cx="61739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4AD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84.5%</a:t>
            </a:r>
            <a:endParaRPr lang="en-US" sz="1013" dirty="0"/>
          </a:p>
        </p:txBody>
      </p:sp>
      <p:sp>
        <p:nvSpPr>
          <p:cNvPr id="79" name="Text 68"/>
          <p:cNvSpPr/>
          <p:nvPr/>
        </p:nvSpPr>
        <p:spPr>
          <a:xfrm>
            <a:off x="2818544" y="4411266"/>
            <a:ext cx="95659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|</a:t>
            </a:r>
            <a:endParaRPr lang="en-US" sz="900" dirty="0"/>
          </a:p>
        </p:txBody>
      </p:sp>
      <p:sp>
        <p:nvSpPr>
          <p:cNvPr id="80" name="Text 69"/>
          <p:cNvSpPr/>
          <p:nvPr/>
        </p:nvSpPr>
        <p:spPr>
          <a:xfrm>
            <a:off x="2971354" y="4450556"/>
            <a:ext cx="74271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spc="31" kern="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BÉNÉFICE NET</a:t>
            </a:r>
            <a:endParaRPr lang="en-US" sz="619" dirty="0"/>
          </a:p>
        </p:txBody>
      </p:sp>
      <p:sp>
        <p:nvSpPr>
          <p:cNvPr id="81" name="Text 70"/>
          <p:cNvSpPr/>
          <p:nvPr/>
        </p:nvSpPr>
        <p:spPr>
          <a:xfrm>
            <a:off x="3579240" y="4400550"/>
            <a:ext cx="91595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2 569$</a:t>
            </a:r>
            <a:pPr algn="l" indent="0" marL="0">
              <a:lnSpc>
                <a:spcPts val="1519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/mois</a:t>
            </a:r>
            <a:endParaRPr lang="en-US" sz="1013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3688" y="-714375"/>
            <a:ext cx="2857500" cy="2857500"/>
          </a:xfrm>
          <a:prstGeom prst="ellipse">
            <a:avLst/>
          </a:prstGeom>
          <a:solidFill>
            <a:srgbClr val="6366F1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-285750" y="3571875"/>
            <a:ext cx="2143125" cy="2143125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2"/>
          <p:cNvSpPr/>
          <p:nvPr/>
        </p:nvSpPr>
        <p:spPr>
          <a:xfrm>
            <a:off x="457200" y="400050"/>
            <a:ext cx="167654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86" kern="0" dirty="0">
                <a:solidFill>
                  <a:srgbClr val="A5B4F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· CLOSING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57200" y="575072"/>
            <a:ext cx="1964915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63"/>
              </a:lnSpc>
              <a:buNone/>
            </a:pPr>
            <a:r>
              <a:rPr lang="en-US" sz="2250" b="1" spc="-56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452963" y="674441"/>
            <a:ext cx="1256697" cy="212027"/>
          </a:xfrm>
          <a:prstGeom prst="roundRect">
            <a:avLst>
              <a:gd name="adj" fmla="val 8984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704423" y="728663"/>
            <a:ext cx="982377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RAPPORT TERMINÉ</a:t>
            </a:r>
            <a:endParaRPr lang="en-US" sz="619" dirty="0"/>
          </a:p>
        </p:txBody>
      </p:sp>
      <p:sp>
        <p:nvSpPr>
          <p:cNvPr id="10" name="Text 6"/>
          <p:cNvSpPr/>
          <p:nvPr/>
        </p:nvSpPr>
        <p:spPr>
          <a:xfrm>
            <a:off x="7568692" y="734020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22C55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914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46559"/>
            <a:ext cx="3841105" cy="313967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60772" y="1050131"/>
            <a:ext cx="3833961" cy="3132534"/>
          </a:xfrm>
          <a:prstGeom prst="roundRect">
            <a:avLst>
              <a:gd name="adj" fmla="val 4257"/>
            </a:avLst>
          </a:prstGeom>
          <a:noFill/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5361" y="596503"/>
            <a:ext cx="1143000" cy="11430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05361" y="596503"/>
            <a:ext cx="1143000" cy="1143000"/>
          </a:xfrm>
          <a:prstGeom prst="roundRect">
            <a:avLst>
              <a:gd name="adj" fmla="val 8332500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219" y="1198364"/>
            <a:ext cx="285750" cy="285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46509" y="123765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17" name="Text 10"/>
          <p:cNvSpPr/>
          <p:nvPr/>
        </p:nvSpPr>
        <p:spPr>
          <a:xfrm>
            <a:off x="978694" y="1196578"/>
            <a:ext cx="167023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86EFA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BILAN DU TEST</a:t>
            </a:r>
            <a:endParaRPr lang="en-US" sz="800" dirty="0"/>
          </a:p>
        </p:txBody>
      </p:sp>
      <p:sp>
        <p:nvSpPr>
          <p:cNvPr id="18" name="Text 11"/>
          <p:cNvSpPr/>
          <p:nvPr/>
        </p:nvSpPr>
        <p:spPr>
          <a:xfrm>
            <a:off x="978694" y="1314450"/>
            <a:ext cx="156683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Validé en production</a:t>
            </a:r>
            <a:endParaRPr lang="en-US" sz="900" dirty="0"/>
          </a:p>
        </p:txBody>
      </p:sp>
      <p:sp>
        <p:nvSpPr>
          <p:cNvPr id="19" name="Text 12"/>
          <p:cNvSpPr/>
          <p:nvPr/>
        </p:nvSpPr>
        <p:spPr>
          <a:xfrm>
            <a:off x="610791" y="1632347"/>
            <a:ext cx="3533924" cy="483989"/>
          </a:xfrm>
          <a:prstGeom prst="roundRect">
            <a:avLst>
              <a:gd name="adj" fmla="val 2361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3"/>
          <p:cNvSpPr/>
          <p:nvPr/>
        </p:nvSpPr>
        <p:spPr>
          <a:xfrm>
            <a:off x="714375" y="1750219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1" name="Text 14"/>
          <p:cNvSpPr/>
          <p:nvPr/>
        </p:nvSpPr>
        <p:spPr>
          <a:xfrm>
            <a:off x="942975" y="1735931"/>
            <a:ext cx="28265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26/26 pages opérationnelles</a:t>
            </a:r>
            <a:endParaRPr lang="en-US" sz="800" dirty="0"/>
          </a:p>
        </p:txBody>
      </p:sp>
      <p:sp>
        <p:nvSpPr>
          <p:cNvPr id="22" name="Text 15"/>
          <p:cNvSpPr/>
          <p:nvPr/>
        </p:nvSpPr>
        <p:spPr>
          <a:xfrm>
            <a:off x="3749292" y="1743968"/>
            <a:ext cx="3263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4ADE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26/26</a:t>
            </a:r>
            <a:endParaRPr lang="en-US" sz="675" dirty="0"/>
          </a:p>
        </p:txBody>
      </p:sp>
      <p:sp>
        <p:nvSpPr>
          <p:cNvPr id="23" name="Text 16"/>
          <p:cNvSpPr/>
          <p:nvPr/>
        </p:nvSpPr>
        <p:spPr>
          <a:xfrm>
            <a:off x="942975" y="1894880"/>
            <a:ext cx="309815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Déployées sur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86EFA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Vercel</a:t>
            </a:r>
            <a:endParaRPr lang="en-US" sz="800" dirty="0"/>
          </a:p>
        </p:txBody>
      </p:sp>
      <p:sp>
        <p:nvSpPr>
          <p:cNvPr id="24" name="Text 17"/>
          <p:cNvSpPr/>
          <p:nvPr/>
        </p:nvSpPr>
        <p:spPr>
          <a:xfrm>
            <a:off x="610791" y="2209205"/>
            <a:ext cx="3533924" cy="507206"/>
          </a:xfrm>
          <a:prstGeom prst="roundRect">
            <a:avLst>
              <a:gd name="adj" fmla="val 2253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18"/>
          <p:cNvSpPr/>
          <p:nvPr/>
        </p:nvSpPr>
        <p:spPr>
          <a:xfrm>
            <a:off x="714375" y="232707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26" name="Text 19"/>
          <p:cNvSpPr/>
          <p:nvPr/>
        </p:nvSpPr>
        <p:spPr>
          <a:xfrm>
            <a:off x="942975" y="2324398"/>
            <a:ext cx="265100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Supabase configuré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590949" y="2302716"/>
            <a:ext cx="467496" cy="188024"/>
          </a:xfrm>
          <a:prstGeom prst="roundRect">
            <a:avLst>
              <a:gd name="adj" fmla="val 101317"/>
            </a:avLst>
          </a:prstGeom>
          <a:solidFill>
            <a:srgbClr val="22C55E">
              <a:alpha val="15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3608263" y="2312789"/>
            <a:ext cx="43286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22C55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DB OK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942975" y="2494955"/>
            <a:ext cx="309815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 persistant ·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A5B4FC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Postgres</a:t>
            </a:r>
            <a:endParaRPr lang="en-US" sz="800" dirty="0"/>
          </a:p>
        </p:txBody>
      </p:sp>
      <p:sp>
        <p:nvSpPr>
          <p:cNvPr id="30" name="Text 23"/>
          <p:cNvSpPr/>
          <p:nvPr/>
        </p:nvSpPr>
        <p:spPr>
          <a:xfrm>
            <a:off x="610791" y="2809280"/>
            <a:ext cx="3533924" cy="507206"/>
          </a:xfrm>
          <a:prstGeom prst="roundRect">
            <a:avLst>
              <a:gd name="adj" fmla="val 2253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4"/>
          <p:cNvSpPr/>
          <p:nvPr/>
        </p:nvSpPr>
        <p:spPr>
          <a:xfrm>
            <a:off x="714375" y="292715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2" name="Text 25"/>
          <p:cNvSpPr/>
          <p:nvPr/>
        </p:nvSpPr>
        <p:spPr>
          <a:xfrm>
            <a:off x="942975" y="2924473"/>
            <a:ext cx="236915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IA OpenRouter active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3303560" y="2902791"/>
            <a:ext cx="760430" cy="188024"/>
          </a:xfrm>
          <a:prstGeom prst="roundRect">
            <a:avLst>
              <a:gd name="adj" fmla="val 10131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27"/>
          <p:cNvSpPr/>
          <p:nvPr/>
        </p:nvSpPr>
        <p:spPr>
          <a:xfrm>
            <a:off x="3294342" y="2912864"/>
            <a:ext cx="778866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759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OPENROUTER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942975" y="3095030"/>
            <a:ext cx="3098155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Génération en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C4B5F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10s</a:t>
            </a:r>
            <a:endParaRPr lang="en-US" sz="800" dirty="0"/>
          </a:p>
        </p:txBody>
      </p:sp>
      <p:sp>
        <p:nvSpPr>
          <p:cNvPr id="36" name="Text 29"/>
          <p:cNvSpPr/>
          <p:nvPr/>
        </p:nvSpPr>
        <p:spPr>
          <a:xfrm>
            <a:off x="610791" y="3686175"/>
            <a:ext cx="3533924" cy="346472"/>
          </a:xfrm>
          <a:prstGeom prst="roundRect">
            <a:avLst>
              <a:gd name="adj" fmla="val 32990"/>
            </a:avLst>
          </a:prstGeom>
          <a:solidFill>
            <a:srgbClr val="22C55E">
              <a:alpha val="8000"/>
            </a:srgbClr>
          </a:solidFill>
          <a:ln w="7144">
            <a:solidFill>
              <a:srgbClr val="22C55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0"/>
          <p:cNvSpPr/>
          <p:nvPr/>
        </p:nvSpPr>
        <p:spPr>
          <a:xfrm>
            <a:off x="728663" y="3809405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266" dirty="0"/>
          </a:p>
        </p:txBody>
      </p:sp>
      <p:sp>
        <p:nvSpPr>
          <p:cNvPr id="38" name="Text 31"/>
          <p:cNvSpPr/>
          <p:nvPr/>
        </p:nvSpPr>
        <p:spPr>
          <a:xfrm>
            <a:off x="887372" y="3809405"/>
            <a:ext cx="69965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E5E7E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Statut global</a:t>
            </a:r>
            <a:endParaRPr lang="en-US" sz="675" dirty="0"/>
          </a:p>
        </p:txBody>
      </p:sp>
      <p:sp>
        <p:nvSpPr>
          <p:cNvPr id="39" name="Text 32"/>
          <p:cNvSpPr/>
          <p:nvPr/>
        </p:nvSpPr>
        <p:spPr>
          <a:xfrm>
            <a:off x="3135102" y="3804047"/>
            <a:ext cx="89174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b="1" dirty="0">
                <a:solidFill>
                  <a:srgbClr val="4ADE80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PRODUCTION READY</a:t>
            </a:r>
            <a:endParaRPr lang="en-US" sz="731" dirty="0"/>
          </a:p>
        </p:txBody>
      </p:sp>
      <p:sp>
        <p:nvSpPr>
          <p:cNvPr id="40" name="Text 33"/>
          <p:cNvSpPr/>
          <p:nvPr/>
        </p:nvSpPr>
        <p:spPr>
          <a:xfrm>
            <a:off x="4444752" y="1050131"/>
            <a:ext cx="4238476" cy="3132534"/>
          </a:xfrm>
          <a:prstGeom prst="roundRect">
            <a:avLst>
              <a:gd name="adj" fmla="val 4257"/>
            </a:avLst>
          </a:prstGeom>
          <a:solidFill>
            <a:srgbClr val="0D0D14"/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8156" y="710803"/>
            <a:ext cx="914400" cy="914400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108156" y="710803"/>
            <a:ext cx="914400" cy="914400"/>
          </a:xfrm>
          <a:prstGeom prst="roundRect">
            <a:avLst>
              <a:gd name="adj" fmla="val 10415625"/>
            </a:avLst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35"/>
          <p:cNvSpPr/>
          <p:nvPr/>
        </p:nvSpPr>
        <p:spPr>
          <a:xfrm>
            <a:off x="4594771" y="1201936"/>
            <a:ext cx="278606" cy="278606"/>
          </a:xfrm>
          <a:prstGeom prst="roundRect">
            <a:avLst>
              <a:gd name="adj" fmla="val 27350"/>
            </a:avLst>
          </a:prstGeom>
          <a:solidFill>
            <a:srgbClr val="8B5CF6">
              <a:alpha val="15000"/>
            </a:srgbClr>
          </a:solidFill>
          <a:ln w="7144">
            <a:solidFill>
              <a:srgbClr val="8B5CF6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4630489" y="1237655"/>
            <a:ext cx="20716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lang="en-US" sz="1406" dirty="0"/>
          </a:p>
        </p:txBody>
      </p:sp>
      <p:sp>
        <p:nvSpPr>
          <p:cNvPr id="45" name="Text 37"/>
          <p:cNvSpPr/>
          <p:nvPr/>
        </p:nvSpPr>
        <p:spPr>
          <a:xfrm>
            <a:off x="4962674" y="1196578"/>
            <a:ext cx="1839461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C4B5FD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ROADMAP</a:t>
            </a:r>
            <a:endParaRPr lang="en-US" sz="800" dirty="0"/>
          </a:p>
        </p:txBody>
      </p:sp>
      <p:sp>
        <p:nvSpPr>
          <p:cNvPr id="46" name="Text 38"/>
          <p:cNvSpPr/>
          <p:nvPr/>
        </p:nvSpPr>
        <p:spPr>
          <a:xfrm>
            <a:off x="4962674" y="1314450"/>
            <a:ext cx="1588285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PROCHAINES ÉTAPES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4594771" y="1603772"/>
            <a:ext cx="3938439" cy="450056"/>
          </a:xfrm>
          <a:prstGeom prst="roundRect">
            <a:avLst>
              <a:gd name="adj" fmla="val 2539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8355" y="1693069"/>
            <a:ext cx="185738" cy="185738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4698355" y="1693069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50" name="Text 41"/>
          <p:cNvSpPr/>
          <p:nvPr/>
        </p:nvSpPr>
        <p:spPr>
          <a:xfrm>
            <a:off x="4955530" y="170914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055" dirty="0"/>
          </a:p>
        </p:txBody>
      </p:sp>
      <p:sp>
        <p:nvSpPr>
          <p:cNvPr id="51" name="Text 42"/>
          <p:cNvSpPr/>
          <p:nvPr/>
        </p:nvSpPr>
        <p:spPr>
          <a:xfrm>
            <a:off x="5119836" y="1693069"/>
            <a:ext cx="3309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Configurer Twilio + ElevenLabs</a:t>
            </a:r>
            <a:endParaRPr lang="en-US" sz="800" dirty="0"/>
          </a:p>
        </p:txBody>
      </p:sp>
      <p:sp>
        <p:nvSpPr>
          <p:cNvPr id="52" name="Text 43"/>
          <p:cNvSpPr/>
          <p:nvPr/>
        </p:nvSpPr>
        <p:spPr>
          <a:xfrm>
            <a:off x="4955530" y="1846659"/>
            <a:ext cx="3474095" cy="117872"/>
          </a:xfrm>
          <a:prstGeom prst="rect">
            <a:avLst/>
          </a:prstGeom>
          <a:noFill/>
          <a:ln/>
        </p:spPr>
        <p:txBody>
          <a:bodyPr wrap="none" lIns="150019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 WhatsApp voix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4594771" y="2132409"/>
            <a:ext cx="3938439" cy="450056"/>
          </a:xfrm>
          <a:prstGeom prst="roundRect">
            <a:avLst>
              <a:gd name="adj" fmla="val 2539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8355" y="2221706"/>
            <a:ext cx="185738" cy="185738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4698355" y="2221706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56" name="Text 46"/>
          <p:cNvSpPr/>
          <p:nvPr/>
        </p:nvSpPr>
        <p:spPr>
          <a:xfrm>
            <a:off x="4955530" y="223778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4ADE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▭</a:t>
            </a:r>
            <a:endParaRPr lang="en-US" sz="1055" dirty="0"/>
          </a:p>
        </p:txBody>
      </p:sp>
      <p:sp>
        <p:nvSpPr>
          <p:cNvPr id="57" name="Text 47"/>
          <p:cNvSpPr/>
          <p:nvPr/>
        </p:nvSpPr>
        <p:spPr>
          <a:xfrm>
            <a:off x="5119836" y="2221706"/>
            <a:ext cx="3309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Activer Stripe / Flutterwave</a:t>
            </a:r>
            <a:endParaRPr lang="en-US" sz="800" dirty="0"/>
          </a:p>
        </p:txBody>
      </p:sp>
      <p:sp>
        <p:nvSpPr>
          <p:cNvPr id="58" name="Text 48"/>
          <p:cNvSpPr/>
          <p:nvPr/>
        </p:nvSpPr>
        <p:spPr>
          <a:xfrm>
            <a:off x="4955530" y="2375297"/>
            <a:ext cx="3474095" cy="117872"/>
          </a:xfrm>
          <a:prstGeom prst="rect">
            <a:avLst/>
          </a:prstGeom>
          <a:noFill/>
          <a:ln/>
        </p:spPr>
        <p:txBody>
          <a:bodyPr wrap="square" lIns="150019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Pour paiements automatiques</a:t>
            </a:r>
            <a:endParaRPr lang="en-US" sz="800" dirty="0"/>
          </a:p>
        </p:txBody>
      </p:sp>
      <p:sp>
        <p:nvSpPr>
          <p:cNvPr id="59" name="Text 49"/>
          <p:cNvSpPr/>
          <p:nvPr/>
        </p:nvSpPr>
        <p:spPr>
          <a:xfrm>
            <a:off x="4594771" y="2661047"/>
            <a:ext cx="3938439" cy="450056"/>
          </a:xfrm>
          <a:prstGeom prst="roundRect">
            <a:avLst>
              <a:gd name="adj" fmla="val 2539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8355" y="2750344"/>
            <a:ext cx="185738" cy="185738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4698355" y="2750344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62" name="Text 51"/>
          <p:cNvSpPr/>
          <p:nvPr/>
        </p:nvSpPr>
        <p:spPr>
          <a:xfrm>
            <a:off x="4955530" y="276641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22D3E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lang="en-US" sz="1055" dirty="0"/>
          </a:p>
        </p:txBody>
      </p:sp>
      <p:sp>
        <p:nvSpPr>
          <p:cNvPr id="63" name="Text 52"/>
          <p:cNvSpPr/>
          <p:nvPr/>
        </p:nvSpPr>
        <p:spPr>
          <a:xfrm>
            <a:off x="5119836" y="2750344"/>
            <a:ext cx="3309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Créer le bot Telegram</a:t>
            </a:r>
            <a:endParaRPr lang="en-US" sz="800" dirty="0"/>
          </a:p>
        </p:txBody>
      </p:sp>
      <p:sp>
        <p:nvSpPr>
          <p:cNvPr id="64" name="Text 53"/>
          <p:cNvSpPr/>
          <p:nvPr/>
        </p:nvSpPr>
        <p:spPr>
          <a:xfrm>
            <a:off x="4955530" y="2903934"/>
            <a:ext cx="3474095" cy="117872"/>
          </a:xfrm>
          <a:prstGeom prst="rect">
            <a:avLst/>
          </a:prstGeom>
          <a:noFill/>
          <a:ln/>
        </p:spPr>
        <p:txBody>
          <a:bodyPr wrap="none" lIns="150019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Via </a:t>
            </a:r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7E8F9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@BotFather</a:t>
            </a:r>
            <a:endParaRPr lang="en-US" sz="800" dirty="0"/>
          </a:p>
        </p:txBody>
      </p:sp>
      <p:sp>
        <p:nvSpPr>
          <p:cNvPr id="65" name="Text 54"/>
          <p:cNvSpPr/>
          <p:nvPr/>
        </p:nvSpPr>
        <p:spPr>
          <a:xfrm>
            <a:off x="4594771" y="3189684"/>
            <a:ext cx="3938439" cy="450056"/>
          </a:xfrm>
          <a:prstGeom prst="roundRect">
            <a:avLst>
              <a:gd name="adj" fmla="val 2539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8355" y="3278981"/>
            <a:ext cx="185738" cy="185738"/>
          </a:xfrm>
          <a:prstGeom prst="rect">
            <a:avLst/>
          </a:prstGeom>
        </p:spPr>
      </p:pic>
      <p:sp>
        <p:nvSpPr>
          <p:cNvPr id="67" name="Text 55"/>
          <p:cNvSpPr/>
          <p:nvPr/>
        </p:nvSpPr>
        <p:spPr>
          <a:xfrm>
            <a:off x="4698355" y="3278981"/>
            <a:ext cx="22145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68" name="Text 56"/>
          <p:cNvSpPr/>
          <p:nvPr/>
        </p:nvSpPr>
        <p:spPr>
          <a:xfrm>
            <a:off x="4955530" y="3295055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5" dirty="0">
                <a:solidFill>
                  <a:srgbClr val="FBBF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lang="en-US" sz="1055" dirty="0"/>
          </a:p>
        </p:txBody>
      </p:sp>
      <p:sp>
        <p:nvSpPr>
          <p:cNvPr id="69" name="Text 57"/>
          <p:cNvSpPr/>
          <p:nvPr/>
        </p:nvSpPr>
        <p:spPr>
          <a:xfrm>
            <a:off x="5119836" y="3278981"/>
            <a:ext cx="330978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Lancer la campagne marketing</a:t>
            </a:r>
            <a:endParaRPr lang="en-US" sz="800" dirty="0"/>
          </a:p>
        </p:txBody>
      </p:sp>
      <p:sp>
        <p:nvSpPr>
          <p:cNvPr id="70" name="Text 58"/>
          <p:cNvSpPr/>
          <p:nvPr/>
        </p:nvSpPr>
        <p:spPr>
          <a:xfrm>
            <a:off x="4955530" y="3432572"/>
            <a:ext cx="3474095" cy="117872"/>
          </a:xfrm>
          <a:prstGeom prst="rect">
            <a:avLst/>
          </a:prstGeom>
          <a:noFill/>
          <a:ln/>
        </p:spPr>
        <p:txBody>
          <a:bodyPr wrap="square" lIns="150019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Acquisition utilisateurs</a:t>
            </a:r>
            <a:endParaRPr lang="en-US" sz="800" dirty="0"/>
          </a:p>
        </p:txBody>
      </p:sp>
      <p:sp>
        <p:nvSpPr>
          <p:cNvPr id="71" name="Text 59"/>
          <p:cNvSpPr/>
          <p:nvPr/>
        </p:nvSpPr>
        <p:spPr>
          <a:xfrm>
            <a:off x="4591199" y="3930848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914" dirty="0"/>
          </a:p>
        </p:txBody>
      </p:sp>
      <p:sp>
        <p:nvSpPr>
          <p:cNvPr id="72" name="Text 60"/>
          <p:cNvSpPr/>
          <p:nvPr/>
        </p:nvSpPr>
        <p:spPr>
          <a:xfrm>
            <a:off x="4741218" y="3918347"/>
            <a:ext cx="379556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actions priorisées</a:t>
            </a:r>
            <a:endParaRPr lang="en-US" sz="800" dirty="0"/>
          </a:p>
        </p:txBody>
      </p:sp>
      <p:sp>
        <p:nvSpPr>
          <p:cNvPr id="73" name="Text 61"/>
          <p:cNvSpPr/>
          <p:nvPr/>
        </p:nvSpPr>
        <p:spPr>
          <a:xfrm>
            <a:off x="460772" y="4332684"/>
            <a:ext cx="8222456" cy="407194"/>
          </a:xfrm>
          <a:prstGeom prst="roundRect">
            <a:avLst>
              <a:gd name="adj" fmla="val 2807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62"/>
          <p:cNvSpPr/>
          <p:nvPr/>
        </p:nvSpPr>
        <p:spPr>
          <a:xfrm>
            <a:off x="582216" y="4425553"/>
            <a:ext cx="221456" cy="221456"/>
          </a:xfrm>
          <a:prstGeom prst="roundRect">
            <a:avLst>
              <a:gd name="adj" fmla="val 34409"/>
            </a:avLst>
          </a:prstGeom>
          <a:solidFill>
            <a:srgbClr val="6366F1">
              <a:alpha val="12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63"/>
          <p:cNvSpPr/>
          <p:nvPr/>
        </p:nvSpPr>
        <p:spPr>
          <a:xfrm>
            <a:off x="610076" y="445341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818CF8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76" name="Text 64"/>
          <p:cNvSpPr/>
          <p:nvPr/>
        </p:nvSpPr>
        <p:spPr>
          <a:xfrm>
            <a:off x="866538" y="4471988"/>
            <a:ext cx="8651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D1D5D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AfriLaunch AI</a:t>
            </a:r>
            <a:endParaRPr lang="en-US" sz="800" dirty="0"/>
          </a:p>
        </p:txBody>
      </p:sp>
      <p:sp>
        <p:nvSpPr>
          <p:cNvPr id="77" name="Text 65"/>
          <p:cNvSpPr/>
          <p:nvPr/>
        </p:nvSpPr>
        <p:spPr>
          <a:xfrm>
            <a:off x="1628552" y="4450556"/>
            <a:ext cx="182880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Text 66"/>
          <p:cNvSpPr/>
          <p:nvPr/>
        </p:nvSpPr>
        <p:spPr>
          <a:xfrm>
            <a:off x="1828577" y="4471988"/>
            <a:ext cx="246928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dirty="0">
                <a:solidFill>
                  <a:srgbClr val="9CA3A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https://github.com/alljob367-cyber/AfriLaunch-AI</a:t>
            </a:r>
            <a:endParaRPr lang="en-US" sz="675" dirty="0"/>
          </a:p>
        </p:txBody>
      </p:sp>
      <p:sp>
        <p:nvSpPr>
          <p:cNvPr id="79" name="Text 67"/>
          <p:cNvSpPr/>
          <p:nvPr/>
        </p:nvSpPr>
        <p:spPr>
          <a:xfrm>
            <a:off x="7968094" y="4430268"/>
            <a:ext cx="620122" cy="212027"/>
          </a:xfrm>
          <a:prstGeom prst="roundRect">
            <a:avLst>
              <a:gd name="adj" fmla="val 89847"/>
            </a:avLst>
          </a:prstGeom>
          <a:solidFill>
            <a:srgbClr val="6366F1">
              <a:alpha val="15000"/>
            </a:srgbClr>
          </a:solidFill>
          <a:ln w="7144">
            <a:solidFill>
              <a:srgbClr val="6366F1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68"/>
          <p:cNvSpPr/>
          <p:nvPr/>
        </p:nvSpPr>
        <p:spPr>
          <a:xfrm>
            <a:off x="8219554" y="4484489"/>
            <a:ext cx="345802" cy="129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28" kern="0" dirty="0">
                <a:solidFill>
                  <a:srgbClr val="6366F1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</a:t>
            </a:r>
            <a:endParaRPr lang="en-US" sz="800" dirty="0"/>
          </a:p>
        </p:txBody>
      </p:sp>
      <p:sp>
        <p:nvSpPr>
          <p:cNvPr id="81" name="Text 69"/>
          <p:cNvSpPr/>
          <p:nvPr/>
        </p:nvSpPr>
        <p:spPr>
          <a:xfrm>
            <a:off x="8083823" y="4489847"/>
            <a:ext cx="92869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14" dirty="0">
                <a:solidFill>
                  <a:srgbClr val="6366F1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lang="en-US" sz="91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2026-08-27T20:50:55Z</dcterms:created>
  <dcterms:modified xsi:type="dcterms:W3CDTF">2026-08-27T20:50:55Z</dcterms:modified>
</cp:coreProperties>
</file>